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2"/>
  </p:notesMasterIdLst>
  <p:sldIdLst>
    <p:sldId id="266" r:id="rId2"/>
    <p:sldId id="263" r:id="rId3"/>
    <p:sldId id="265" r:id="rId4"/>
    <p:sldId id="259" r:id="rId5"/>
    <p:sldId id="262" r:id="rId6"/>
    <p:sldId id="260" r:id="rId7"/>
    <p:sldId id="264" r:id="rId8"/>
    <p:sldId id="258" r:id="rId9"/>
    <p:sldId id="256" r:id="rId10"/>
    <p:sldId id="261" r:id="rId11"/>
  </p:sldIdLst>
  <p:sldSz cx="24877713" cy="146415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41" d="100"/>
          <a:sy n="41" d="100"/>
        </p:scale>
        <p:origin x="53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9357C-440F-43CD-9A57-4777CF3C8B7E}" type="datetimeFigureOut">
              <a:rPr lang="en-GB" smtClean="0"/>
              <a:t>12/12/2025</a:t>
            </a:fld>
            <a:endParaRPr lang="en-GB"/>
          </a:p>
        </p:txBody>
      </p:sp>
      <p:sp>
        <p:nvSpPr>
          <p:cNvPr id="4" name="Slide Image Placeholder 3"/>
          <p:cNvSpPr>
            <a:spLocks noGrp="1" noRot="1" noChangeAspect="1"/>
          </p:cNvSpPr>
          <p:nvPr>
            <p:ph type="sldImg" idx="2"/>
          </p:nvPr>
        </p:nvSpPr>
        <p:spPr>
          <a:xfrm>
            <a:off x="806450" y="1143000"/>
            <a:ext cx="52451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6A36CF-7690-4511-B9DC-F10A7AADA1DE}" type="slidenum">
              <a:rPr lang="en-GB" smtClean="0"/>
              <a:t>‹#›</a:t>
            </a:fld>
            <a:endParaRPr lang="en-GB"/>
          </a:p>
        </p:txBody>
      </p:sp>
    </p:spTree>
    <p:extLst>
      <p:ext uri="{BB962C8B-B14F-4D97-AF65-F5344CB8AC3E}">
        <p14:creationId xmlns:p14="http://schemas.microsoft.com/office/powerpoint/2010/main" val="16514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36A36CF-7690-4511-B9DC-F10A7AADA1DE}" type="slidenum">
              <a:rPr lang="en-GB" smtClean="0"/>
              <a:t>10</a:t>
            </a:fld>
            <a:endParaRPr lang="en-GB"/>
          </a:p>
        </p:txBody>
      </p:sp>
    </p:spTree>
    <p:extLst>
      <p:ext uri="{BB962C8B-B14F-4D97-AF65-F5344CB8AC3E}">
        <p14:creationId xmlns:p14="http://schemas.microsoft.com/office/powerpoint/2010/main" val="115376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09714" y="2396193"/>
            <a:ext cx="18658285" cy="5097416"/>
          </a:xfrm>
        </p:spPr>
        <p:txBody>
          <a:bodyPr anchor="b"/>
          <a:lstStyle>
            <a:lvl1pPr algn="ctr">
              <a:defRPr sz="12243"/>
            </a:lvl1pPr>
          </a:lstStyle>
          <a:p>
            <a:r>
              <a:rPr lang="en-US"/>
              <a:t>Click to edit Master title style</a:t>
            </a:r>
            <a:endParaRPr lang="en-US" dirty="0"/>
          </a:p>
        </p:txBody>
      </p:sp>
      <p:sp>
        <p:nvSpPr>
          <p:cNvPr id="3" name="Subtitle 2"/>
          <p:cNvSpPr>
            <a:spLocks noGrp="1"/>
          </p:cNvSpPr>
          <p:nvPr>
            <p:ph type="subTitle" idx="1"/>
          </p:nvPr>
        </p:nvSpPr>
        <p:spPr>
          <a:xfrm>
            <a:off x="3109714" y="7690185"/>
            <a:ext cx="18658285" cy="3534975"/>
          </a:xfrm>
        </p:spPr>
        <p:txBody>
          <a:bodyPr/>
          <a:lstStyle>
            <a:lvl1pPr marL="0" indent="0" algn="ctr">
              <a:buNone/>
              <a:defRPr sz="4897"/>
            </a:lvl1pPr>
            <a:lvl2pPr marL="932917" indent="0" algn="ctr">
              <a:buNone/>
              <a:defRPr sz="4081"/>
            </a:lvl2pPr>
            <a:lvl3pPr marL="1865833" indent="0" algn="ctr">
              <a:buNone/>
              <a:defRPr sz="3673"/>
            </a:lvl3pPr>
            <a:lvl4pPr marL="2798750" indent="0" algn="ctr">
              <a:buNone/>
              <a:defRPr sz="3265"/>
            </a:lvl4pPr>
            <a:lvl5pPr marL="3731666" indent="0" algn="ctr">
              <a:buNone/>
              <a:defRPr sz="3265"/>
            </a:lvl5pPr>
            <a:lvl6pPr marL="4664583" indent="0" algn="ctr">
              <a:buNone/>
              <a:defRPr sz="3265"/>
            </a:lvl6pPr>
            <a:lvl7pPr marL="5597500" indent="0" algn="ctr">
              <a:buNone/>
              <a:defRPr sz="3265"/>
            </a:lvl7pPr>
            <a:lvl8pPr marL="6530416" indent="0" algn="ctr">
              <a:buNone/>
              <a:defRPr sz="3265"/>
            </a:lvl8pPr>
            <a:lvl9pPr marL="7463333" indent="0" algn="ctr">
              <a:buNone/>
              <a:defRPr sz="326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030947-9A01-4EEE-AF61-7E6A83DC8416}" type="datetimeFigureOut">
              <a:rPr lang="en-GB" smtClean="0"/>
              <a:t>12/12/2025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2179953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30947-9A01-4EEE-AF61-7E6A83DC8416}" type="datetimeFigureOut">
              <a:rPr lang="en-GB" smtClean="0"/>
              <a:t>12/12/2025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142408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7386" y="3650212"/>
            <a:ext cx="21457027" cy="6090462"/>
          </a:xfrm>
        </p:spPr>
        <p:txBody>
          <a:bodyPr anchor="b"/>
          <a:lstStyle>
            <a:lvl1pPr>
              <a:defRPr sz="12243"/>
            </a:lvl1pPr>
          </a:lstStyle>
          <a:p>
            <a:r>
              <a:rPr lang="en-US"/>
              <a:t>Click to edit Master title style</a:t>
            </a:r>
            <a:endParaRPr lang="en-US" dirty="0"/>
          </a:p>
        </p:txBody>
      </p:sp>
      <p:sp>
        <p:nvSpPr>
          <p:cNvPr id="3" name="Text Placeholder 2"/>
          <p:cNvSpPr>
            <a:spLocks noGrp="1"/>
          </p:cNvSpPr>
          <p:nvPr>
            <p:ph type="body" idx="1"/>
          </p:nvPr>
        </p:nvSpPr>
        <p:spPr>
          <a:xfrm>
            <a:off x="1697386" y="9798292"/>
            <a:ext cx="21457027" cy="3202830"/>
          </a:xfrm>
        </p:spPr>
        <p:txBody>
          <a:bodyPr/>
          <a:lstStyle>
            <a:lvl1pPr marL="0" indent="0">
              <a:buNone/>
              <a:defRPr sz="4897">
                <a:solidFill>
                  <a:schemeClr val="tx1">
                    <a:tint val="82000"/>
                  </a:schemeClr>
                </a:solidFill>
              </a:defRPr>
            </a:lvl1pPr>
            <a:lvl2pPr marL="932917" indent="0">
              <a:buNone/>
              <a:defRPr sz="4081">
                <a:solidFill>
                  <a:schemeClr val="tx1">
                    <a:tint val="82000"/>
                  </a:schemeClr>
                </a:solidFill>
              </a:defRPr>
            </a:lvl2pPr>
            <a:lvl3pPr marL="1865833" indent="0">
              <a:buNone/>
              <a:defRPr sz="3673">
                <a:solidFill>
                  <a:schemeClr val="tx1">
                    <a:tint val="82000"/>
                  </a:schemeClr>
                </a:solidFill>
              </a:defRPr>
            </a:lvl3pPr>
            <a:lvl4pPr marL="2798750" indent="0">
              <a:buNone/>
              <a:defRPr sz="3265">
                <a:solidFill>
                  <a:schemeClr val="tx1">
                    <a:tint val="82000"/>
                  </a:schemeClr>
                </a:solidFill>
              </a:defRPr>
            </a:lvl4pPr>
            <a:lvl5pPr marL="3731666" indent="0">
              <a:buNone/>
              <a:defRPr sz="3265">
                <a:solidFill>
                  <a:schemeClr val="tx1">
                    <a:tint val="82000"/>
                  </a:schemeClr>
                </a:solidFill>
              </a:defRPr>
            </a:lvl5pPr>
            <a:lvl6pPr marL="4664583" indent="0">
              <a:buNone/>
              <a:defRPr sz="3265">
                <a:solidFill>
                  <a:schemeClr val="tx1">
                    <a:tint val="82000"/>
                  </a:schemeClr>
                </a:solidFill>
              </a:defRPr>
            </a:lvl6pPr>
            <a:lvl7pPr marL="5597500" indent="0">
              <a:buNone/>
              <a:defRPr sz="3265">
                <a:solidFill>
                  <a:schemeClr val="tx1">
                    <a:tint val="82000"/>
                  </a:schemeClr>
                </a:solidFill>
              </a:defRPr>
            </a:lvl7pPr>
            <a:lvl8pPr marL="6530416" indent="0">
              <a:buNone/>
              <a:defRPr sz="3265">
                <a:solidFill>
                  <a:schemeClr val="tx1">
                    <a:tint val="82000"/>
                  </a:schemeClr>
                </a:solidFill>
              </a:defRPr>
            </a:lvl8pPr>
            <a:lvl9pPr marL="7463333" indent="0">
              <a:buNone/>
              <a:defRPr sz="3265">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030947-9A01-4EEE-AF61-7E6A83DC8416}" type="datetimeFigureOut">
              <a:rPr lang="en-GB" smtClean="0"/>
              <a:t>12/12/2025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136552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0343" y="3897625"/>
            <a:ext cx="10573028" cy="92899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594342" y="3897625"/>
            <a:ext cx="10573028" cy="92899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030947-9A01-4EEE-AF61-7E6A83DC8416}" type="datetimeFigureOut">
              <a:rPr lang="en-GB" smtClean="0"/>
              <a:t>12/12/2025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230941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13583" y="779526"/>
            <a:ext cx="21457027" cy="2830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13584" y="3589205"/>
            <a:ext cx="10524438" cy="1759014"/>
          </a:xfrm>
        </p:spPr>
        <p:txBody>
          <a:bodyPr anchor="b"/>
          <a:lstStyle>
            <a:lvl1pPr marL="0" indent="0">
              <a:buNone/>
              <a:defRPr sz="4897" b="1"/>
            </a:lvl1pPr>
            <a:lvl2pPr marL="932917" indent="0">
              <a:buNone/>
              <a:defRPr sz="4081" b="1"/>
            </a:lvl2pPr>
            <a:lvl3pPr marL="1865833" indent="0">
              <a:buNone/>
              <a:defRPr sz="3673" b="1"/>
            </a:lvl3pPr>
            <a:lvl4pPr marL="2798750" indent="0">
              <a:buNone/>
              <a:defRPr sz="3265" b="1"/>
            </a:lvl4pPr>
            <a:lvl5pPr marL="3731666" indent="0">
              <a:buNone/>
              <a:defRPr sz="3265" b="1"/>
            </a:lvl5pPr>
            <a:lvl6pPr marL="4664583" indent="0">
              <a:buNone/>
              <a:defRPr sz="3265" b="1"/>
            </a:lvl6pPr>
            <a:lvl7pPr marL="5597500" indent="0">
              <a:buNone/>
              <a:defRPr sz="3265" b="1"/>
            </a:lvl7pPr>
            <a:lvl8pPr marL="6530416" indent="0">
              <a:buNone/>
              <a:defRPr sz="3265" b="1"/>
            </a:lvl8pPr>
            <a:lvl9pPr marL="7463333" indent="0">
              <a:buNone/>
              <a:defRPr sz="3265" b="1"/>
            </a:lvl9pPr>
          </a:lstStyle>
          <a:p>
            <a:pPr lvl="0"/>
            <a:r>
              <a:rPr lang="en-US"/>
              <a:t>Click to edit Master text styles</a:t>
            </a:r>
          </a:p>
        </p:txBody>
      </p:sp>
      <p:sp>
        <p:nvSpPr>
          <p:cNvPr id="4" name="Content Placeholder 3"/>
          <p:cNvSpPr>
            <a:spLocks noGrp="1"/>
          </p:cNvSpPr>
          <p:nvPr>
            <p:ph sz="half" idx="2"/>
          </p:nvPr>
        </p:nvSpPr>
        <p:spPr>
          <a:xfrm>
            <a:off x="1713584" y="5348219"/>
            <a:ext cx="10524438" cy="786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594342" y="3589205"/>
            <a:ext cx="10576268" cy="1759014"/>
          </a:xfrm>
        </p:spPr>
        <p:txBody>
          <a:bodyPr anchor="b"/>
          <a:lstStyle>
            <a:lvl1pPr marL="0" indent="0">
              <a:buNone/>
              <a:defRPr sz="4897" b="1"/>
            </a:lvl1pPr>
            <a:lvl2pPr marL="932917" indent="0">
              <a:buNone/>
              <a:defRPr sz="4081" b="1"/>
            </a:lvl2pPr>
            <a:lvl3pPr marL="1865833" indent="0">
              <a:buNone/>
              <a:defRPr sz="3673" b="1"/>
            </a:lvl3pPr>
            <a:lvl4pPr marL="2798750" indent="0">
              <a:buNone/>
              <a:defRPr sz="3265" b="1"/>
            </a:lvl4pPr>
            <a:lvl5pPr marL="3731666" indent="0">
              <a:buNone/>
              <a:defRPr sz="3265" b="1"/>
            </a:lvl5pPr>
            <a:lvl6pPr marL="4664583" indent="0">
              <a:buNone/>
              <a:defRPr sz="3265" b="1"/>
            </a:lvl6pPr>
            <a:lvl7pPr marL="5597500" indent="0">
              <a:buNone/>
              <a:defRPr sz="3265" b="1"/>
            </a:lvl7pPr>
            <a:lvl8pPr marL="6530416" indent="0">
              <a:buNone/>
              <a:defRPr sz="3265" b="1"/>
            </a:lvl8pPr>
            <a:lvl9pPr marL="7463333" indent="0">
              <a:buNone/>
              <a:defRPr sz="3265" b="1"/>
            </a:lvl9pPr>
          </a:lstStyle>
          <a:p>
            <a:pPr lvl="0"/>
            <a:r>
              <a:rPr lang="en-US"/>
              <a:t>Click to edit Master text styles</a:t>
            </a:r>
          </a:p>
        </p:txBody>
      </p:sp>
      <p:sp>
        <p:nvSpPr>
          <p:cNvPr id="6" name="Content Placeholder 5"/>
          <p:cNvSpPr>
            <a:spLocks noGrp="1"/>
          </p:cNvSpPr>
          <p:nvPr>
            <p:ph sz="quarter" idx="4"/>
          </p:nvPr>
        </p:nvSpPr>
        <p:spPr>
          <a:xfrm>
            <a:off x="12594342" y="5348219"/>
            <a:ext cx="10576268" cy="786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030947-9A01-4EEE-AF61-7E6A83DC8416}" type="datetimeFigureOut">
              <a:rPr lang="en-GB" smtClean="0"/>
              <a:t>12/12/2025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3462980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030947-9A01-4EEE-AF61-7E6A83DC8416}" type="datetimeFigureOut">
              <a:rPr lang="en-GB" smtClean="0"/>
              <a:t>12/12/2025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273247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030947-9A01-4EEE-AF61-7E6A83DC8416}" type="datetimeFigureOut">
              <a:rPr lang="en-GB" smtClean="0"/>
              <a:t>12/12/2025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809321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3584" y="976101"/>
            <a:ext cx="8023709" cy="3416353"/>
          </a:xfrm>
        </p:spPr>
        <p:txBody>
          <a:bodyPr anchor="b"/>
          <a:lstStyle>
            <a:lvl1pPr>
              <a:defRPr sz="6530"/>
            </a:lvl1pPr>
          </a:lstStyle>
          <a:p>
            <a:r>
              <a:rPr lang="en-US"/>
              <a:t>Click to edit Master title style</a:t>
            </a:r>
            <a:endParaRPr lang="en-US" dirty="0"/>
          </a:p>
        </p:txBody>
      </p:sp>
      <p:sp>
        <p:nvSpPr>
          <p:cNvPr id="3" name="Content Placeholder 2"/>
          <p:cNvSpPr>
            <a:spLocks noGrp="1"/>
          </p:cNvSpPr>
          <p:nvPr>
            <p:ph idx="1"/>
          </p:nvPr>
        </p:nvSpPr>
        <p:spPr>
          <a:xfrm>
            <a:off x="10576268" y="2108108"/>
            <a:ext cx="12594342" cy="10404964"/>
          </a:xfrm>
        </p:spPr>
        <p:txBody>
          <a:bodyPr/>
          <a:lstStyle>
            <a:lvl1pPr>
              <a:defRPr sz="6530"/>
            </a:lvl1pPr>
            <a:lvl2pPr>
              <a:defRPr sz="5713"/>
            </a:lvl2pPr>
            <a:lvl3pPr>
              <a:defRPr sz="4897"/>
            </a:lvl3pPr>
            <a:lvl4pPr>
              <a:defRPr sz="4081"/>
            </a:lvl4pPr>
            <a:lvl5pPr>
              <a:defRPr sz="4081"/>
            </a:lvl5pPr>
            <a:lvl6pPr>
              <a:defRPr sz="4081"/>
            </a:lvl6pPr>
            <a:lvl7pPr>
              <a:defRPr sz="4081"/>
            </a:lvl7pPr>
            <a:lvl8pPr>
              <a:defRPr sz="4081"/>
            </a:lvl8pPr>
            <a:lvl9pPr>
              <a:defRPr sz="408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13584" y="4392454"/>
            <a:ext cx="8023709" cy="8137564"/>
          </a:xfrm>
        </p:spPr>
        <p:txBody>
          <a:bodyPr/>
          <a:lstStyle>
            <a:lvl1pPr marL="0" indent="0">
              <a:buNone/>
              <a:defRPr sz="3265"/>
            </a:lvl1pPr>
            <a:lvl2pPr marL="932917" indent="0">
              <a:buNone/>
              <a:defRPr sz="2857"/>
            </a:lvl2pPr>
            <a:lvl3pPr marL="1865833" indent="0">
              <a:buNone/>
              <a:defRPr sz="2449"/>
            </a:lvl3pPr>
            <a:lvl4pPr marL="2798750" indent="0">
              <a:buNone/>
              <a:defRPr sz="2041"/>
            </a:lvl4pPr>
            <a:lvl5pPr marL="3731666" indent="0">
              <a:buNone/>
              <a:defRPr sz="2041"/>
            </a:lvl5pPr>
            <a:lvl6pPr marL="4664583" indent="0">
              <a:buNone/>
              <a:defRPr sz="2041"/>
            </a:lvl6pPr>
            <a:lvl7pPr marL="5597500" indent="0">
              <a:buNone/>
              <a:defRPr sz="2041"/>
            </a:lvl7pPr>
            <a:lvl8pPr marL="6530416" indent="0">
              <a:buNone/>
              <a:defRPr sz="2041"/>
            </a:lvl8pPr>
            <a:lvl9pPr marL="7463333" indent="0">
              <a:buNone/>
              <a:defRPr sz="2041"/>
            </a:lvl9pPr>
          </a:lstStyle>
          <a:p>
            <a:pPr lvl="0"/>
            <a:r>
              <a:rPr lang="en-US"/>
              <a:t>Click to edit Master text styles</a:t>
            </a:r>
          </a:p>
        </p:txBody>
      </p:sp>
      <p:sp>
        <p:nvSpPr>
          <p:cNvPr id="5" name="Date Placeholder 4"/>
          <p:cNvSpPr>
            <a:spLocks noGrp="1"/>
          </p:cNvSpPr>
          <p:nvPr>
            <p:ph type="dt" sz="half" idx="10"/>
          </p:nvPr>
        </p:nvSpPr>
        <p:spPr/>
        <p:txBody>
          <a:bodyPr/>
          <a:lstStyle/>
          <a:p>
            <a:fld id="{FA030947-9A01-4EEE-AF61-7E6A83DC8416}" type="datetimeFigureOut">
              <a:rPr lang="en-GB" smtClean="0"/>
              <a:t>12/12/2025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2840253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3584" y="976101"/>
            <a:ext cx="8023709" cy="3416353"/>
          </a:xfrm>
        </p:spPr>
        <p:txBody>
          <a:bodyPr anchor="b"/>
          <a:lstStyle>
            <a:lvl1pPr>
              <a:defRPr sz="653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576268" y="2108108"/>
            <a:ext cx="12594342" cy="10404964"/>
          </a:xfrm>
        </p:spPr>
        <p:txBody>
          <a:bodyPr anchor="t"/>
          <a:lstStyle>
            <a:lvl1pPr marL="0" indent="0">
              <a:buNone/>
              <a:defRPr sz="6530"/>
            </a:lvl1pPr>
            <a:lvl2pPr marL="932917" indent="0">
              <a:buNone/>
              <a:defRPr sz="5713"/>
            </a:lvl2pPr>
            <a:lvl3pPr marL="1865833" indent="0">
              <a:buNone/>
              <a:defRPr sz="4897"/>
            </a:lvl3pPr>
            <a:lvl4pPr marL="2798750" indent="0">
              <a:buNone/>
              <a:defRPr sz="4081"/>
            </a:lvl4pPr>
            <a:lvl5pPr marL="3731666" indent="0">
              <a:buNone/>
              <a:defRPr sz="4081"/>
            </a:lvl5pPr>
            <a:lvl6pPr marL="4664583" indent="0">
              <a:buNone/>
              <a:defRPr sz="4081"/>
            </a:lvl6pPr>
            <a:lvl7pPr marL="5597500" indent="0">
              <a:buNone/>
              <a:defRPr sz="4081"/>
            </a:lvl7pPr>
            <a:lvl8pPr marL="6530416" indent="0">
              <a:buNone/>
              <a:defRPr sz="4081"/>
            </a:lvl8pPr>
            <a:lvl9pPr marL="7463333" indent="0">
              <a:buNone/>
              <a:defRPr sz="4081"/>
            </a:lvl9pPr>
          </a:lstStyle>
          <a:p>
            <a:r>
              <a:rPr lang="en-US"/>
              <a:t>Click icon to add picture</a:t>
            </a:r>
            <a:endParaRPr lang="en-US" dirty="0"/>
          </a:p>
        </p:txBody>
      </p:sp>
      <p:sp>
        <p:nvSpPr>
          <p:cNvPr id="4" name="Text Placeholder 3"/>
          <p:cNvSpPr>
            <a:spLocks noGrp="1"/>
          </p:cNvSpPr>
          <p:nvPr>
            <p:ph type="body" sz="half" idx="2"/>
          </p:nvPr>
        </p:nvSpPr>
        <p:spPr>
          <a:xfrm>
            <a:off x="1713584" y="4392454"/>
            <a:ext cx="8023709" cy="8137564"/>
          </a:xfrm>
        </p:spPr>
        <p:txBody>
          <a:bodyPr/>
          <a:lstStyle>
            <a:lvl1pPr marL="0" indent="0">
              <a:buNone/>
              <a:defRPr sz="3265"/>
            </a:lvl1pPr>
            <a:lvl2pPr marL="932917" indent="0">
              <a:buNone/>
              <a:defRPr sz="2857"/>
            </a:lvl2pPr>
            <a:lvl3pPr marL="1865833" indent="0">
              <a:buNone/>
              <a:defRPr sz="2449"/>
            </a:lvl3pPr>
            <a:lvl4pPr marL="2798750" indent="0">
              <a:buNone/>
              <a:defRPr sz="2041"/>
            </a:lvl4pPr>
            <a:lvl5pPr marL="3731666" indent="0">
              <a:buNone/>
              <a:defRPr sz="2041"/>
            </a:lvl5pPr>
            <a:lvl6pPr marL="4664583" indent="0">
              <a:buNone/>
              <a:defRPr sz="2041"/>
            </a:lvl6pPr>
            <a:lvl7pPr marL="5597500" indent="0">
              <a:buNone/>
              <a:defRPr sz="2041"/>
            </a:lvl7pPr>
            <a:lvl8pPr marL="6530416" indent="0">
              <a:buNone/>
              <a:defRPr sz="2041"/>
            </a:lvl8pPr>
            <a:lvl9pPr marL="7463333" indent="0">
              <a:buNone/>
              <a:defRPr sz="2041"/>
            </a:lvl9pPr>
          </a:lstStyle>
          <a:p>
            <a:pPr lvl="0"/>
            <a:r>
              <a:rPr lang="en-US"/>
              <a:t>Click to edit Master text styles</a:t>
            </a:r>
          </a:p>
        </p:txBody>
      </p:sp>
      <p:sp>
        <p:nvSpPr>
          <p:cNvPr id="5" name="Date Placeholder 4"/>
          <p:cNvSpPr>
            <a:spLocks noGrp="1"/>
          </p:cNvSpPr>
          <p:nvPr>
            <p:ph type="dt" sz="half" idx="10"/>
          </p:nvPr>
        </p:nvSpPr>
        <p:spPr/>
        <p:txBody>
          <a:bodyPr/>
          <a:lstStyle/>
          <a:p>
            <a:fld id="{FA030947-9A01-4EEE-AF61-7E6A83DC8416}" type="datetimeFigureOut">
              <a:rPr lang="en-GB" smtClean="0"/>
              <a:t>12/12/2025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1212101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30947-9A01-4EEE-AF61-7E6A83DC8416}" type="datetimeFigureOut">
              <a:rPr lang="en-GB" smtClean="0"/>
              <a:t>12/12/2025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187024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803113" y="779525"/>
            <a:ext cx="5364257" cy="124080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0343" y="779525"/>
            <a:ext cx="15781799" cy="124080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30947-9A01-4EEE-AF61-7E6A83DC8416}" type="datetimeFigureOut">
              <a:rPr lang="en-GB" smtClean="0"/>
              <a:t>12/12/2025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4F41415-2102-4DB2-92DB-D3CE416686D5}" type="slidenum">
              <a:rPr lang="en-GB" smtClean="0"/>
              <a:t>‹#›</a:t>
            </a:fld>
            <a:endParaRPr lang="en-GB"/>
          </a:p>
        </p:txBody>
      </p:sp>
    </p:spTree>
    <p:extLst>
      <p:ext uri="{BB962C8B-B14F-4D97-AF65-F5344CB8AC3E}">
        <p14:creationId xmlns:p14="http://schemas.microsoft.com/office/powerpoint/2010/main" val="260960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10343" y="779526"/>
            <a:ext cx="21457027" cy="28300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10343" y="3897625"/>
            <a:ext cx="21457027" cy="92899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10343" y="13570515"/>
            <a:ext cx="5597485" cy="779525"/>
          </a:xfrm>
          <a:prstGeom prst="rect">
            <a:avLst/>
          </a:prstGeom>
        </p:spPr>
        <p:txBody>
          <a:bodyPr vert="horz" lIns="91440" tIns="45720" rIns="91440" bIns="45720" rtlCol="0" anchor="ctr"/>
          <a:lstStyle>
            <a:lvl1pPr algn="l">
              <a:defRPr sz="2449">
                <a:solidFill>
                  <a:schemeClr val="tx1">
                    <a:tint val="82000"/>
                  </a:schemeClr>
                </a:solidFill>
              </a:defRPr>
            </a:lvl1pPr>
          </a:lstStyle>
          <a:p>
            <a:fld id="{FA030947-9A01-4EEE-AF61-7E6A83DC8416}" type="datetimeFigureOut">
              <a:rPr lang="en-GB" smtClean="0"/>
              <a:t>12/12/2025</a:t>
            </a:fld>
            <a:endParaRPr lang="en-GB"/>
          </a:p>
        </p:txBody>
      </p:sp>
      <p:sp>
        <p:nvSpPr>
          <p:cNvPr id="5" name="Footer Placeholder 4"/>
          <p:cNvSpPr>
            <a:spLocks noGrp="1"/>
          </p:cNvSpPr>
          <p:nvPr>
            <p:ph type="ftr" sz="quarter" idx="3"/>
          </p:nvPr>
        </p:nvSpPr>
        <p:spPr>
          <a:xfrm>
            <a:off x="8240743" y="13570515"/>
            <a:ext cx="8396228" cy="779525"/>
          </a:xfrm>
          <a:prstGeom prst="rect">
            <a:avLst/>
          </a:prstGeom>
        </p:spPr>
        <p:txBody>
          <a:bodyPr vert="horz" lIns="91440" tIns="45720" rIns="91440" bIns="45720" rtlCol="0" anchor="ctr"/>
          <a:lstStyle>
            <a:lvl1pPr algn="ctr">
              <a:defRPr sz="2449">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7569885" y="13570515"/>
            <a:ext cx="5597485" cy="779525"/>
          </a:xfrm>
          <a:prstGeom prst="rect">
            <a:avLst/>
          </a:prstGeom>
        </p:spPr>
        <p:txBody>
          <a:bodyPr vert="horz" lIns="91440" tIns="45720" rIns="91440" bIns="45720" rtlCol="0" anchor="ctr"/>
          <a:lstStyle>
            <a:lvl1pPr algn="r">
              <a:defRPr sz="2449">
                <a:solidFill>
                  <a:schemeClr val="tx1">
                    <a:tint val="82000"/>
                  </a:schemeClr>
                </a:solidFill>
              </a:defRPr>
            </a:lvl1pPr>
          </a:lstStyle>
          <a:p>
            <a:fld id="{C4F41415-2102-4DB2-92DB-D3CE416686D5}" type="slidenum">
              <a:rPr lang="en-GB" smtClean="0"/>
              <a:t>‹#›</a:t>
            </a:fld>
            <a:endParaRPr lang="en-GB"/>
          </a:p>
        </p:txBody>
      </p:sp>
    </p:spTree>
    <p:extLst>
      <p:ext uri="{BB962C8B-B14F-4D97-AF65-F5344CB8AC3E}">
        <p14:creationId xmlns:p14="http://schemas.microsoft.com/office/powerpoint/2010/main" val="262782446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1865833" rtl="0" eaLnBrk="1" latinLnBrk="0" hangingPunct="1">
        <a:lnSpc>
          <a:spcPct val="90000"/>
        </a:lnSpc>
        <a:spcBef>
          <a:spcPct val="0"/>
        </a:spcBef>
        <a:buNone/>
        <a:defRPr sz="8978" kern="1200">
          <a:solidFill>
            <a:schemeClr val="tx1"/>
          </a:solidFill>
          <a:latin typeface="+mj-lt"/>
          <a:ea typeface="+mj-ea"/>
          <a:cs typeface="+mj-cs"/>
        </a:defRPr>
      </a:lvl1pPr>
    </p:titleStyle>
    <p:bodyStyle>
      <a:lvl1pPr marL="466458" indent="-466458" algn="l" defTabSz="1865833" rtl="0" eaLnBrk="1" latinLnBrk="0" hangingPunct="1">
        <a:lnSpc>
          <a:spcPct val="90000"/>
        </a:lnSpc>
        <a:spcBef>
          <a:spcPts val="2041"/>
        </a:spcBef>
        <a:buFont typeface="Arial" panose="020B0604020202020204" pitchFamily="34" charset="0"/>
        <a:buChar char="•"/>
        <a:defRPr sz="5713" kern="1200">
          <a:solidFill>
            <a:schemeClr val="tx1"/>
          </a:solidFill>
          <a:latin typeface="+mn-lt"/>
          <a:ea typeface="+mn-ea"/>
          <a:cs typeface="+mn-cs"/>
        </a:defRPr>
      </a:lvl1pPr>
      <a:lvl2pPr marL="1399375" indent="-466458" algn="l" defTabSz="1865833" rtl="0" eaLnBrk="1" latinLnBrk="0" hangingPunct="1">
        <a:lnSpc>
          <a:spcPct val="90000"/>
        </a:lnSpc>
        <a:spcBef>
          <a:spcPts val="1020"/>
        </a:spcBef>
        <a:buFont typeface="Arial" panose="020B0604020202020204" pitchFamily="34" charset="0"/>
        <a:buChar char="•"/>
        <a:defRPr sz="4897" kern="1200">
          <a:solidFill>
            <a:schemeClr val="tx1"/>
          </a:solidFill>
          <a:latin typeface="+mn-lt"/>
          <a:ea typeface="+mn-ea"/>
          <a:cs typeface="+mn-cs"/>
        </a:defRPr>
      </a:lvl2pPr>
      <a:lvl3pPr marL="2332292" indent="-466458" algn="l" defTabSz="1865833" rtl="0" eaLnBrk="1" latinLnBrk="0" hangingPunct="1">
        <a:lnSpc>
          <a:spcPct val="90000"/>
        </a:lnSpc>
        <a:spcBef>
          <a:spcPts val="1020"/>
        </a:spcBef>
        <a:buFont typeface="Arial" panose="020B0604020202020204" pitchFamily="34" charset="0"/>
        <a:buChar char="•"/>
        <a:defRPr sz="4081" kern="1200">
          <a:solidFill>
            <a:schemeClr val="tx1"/>
          </a:solidFill>
          <a:latin typeface="+mn-lt"/>
          <a:ea typeface="+mn-ea"/>
          <a:cs typeface="+mn-cs"/>
        </a:defRPr>
      </a:lvl3pPr>
      <a:lvl4pPr marL="3265208" indent="-466458" algn="l" defTabSz="1865833" rtl="0" eaLnBrk="1" latinLnBrk="0" hangingPunct="1">
        <a:lnSpc>
          <a:spcPct val="90000"/>
        </a:lnSpc>
        <a:spcBef>
          <a:spcPts val="1020"/>
        </a:spcBef>
        <a:buFont typeface="Arial" panose="020B0604020202020204" pitchFamily="34" charset="0"/>
        <a:buChar char="•"/>
        <a:defRPr sz="3673" kern="1200">
          <a:solidFill>
            <a:schemeClr val="tx1"/>
          </a:solidFill>
          <a:latin typeface="+mn-lt"/>
          <a:ea typeface="+mn-ea"/>
          <a:cs typeface="+mn-cs"/>
        </a:defRPr>
      </a:lvl4pPr>
      <a:lvl5pPr marL="4198125" indent="-466458" algn="l" defTabSz="1865833" rtl="0" eaLnBrk="1" latinLnBrk="0" hangingPunct="1">
        <a:lnSpc>
          <a:spcPct val="90000"/>
        </a:lnSpc>
        <a:spcBef>
          <a:spcPts val="1020"/>
        </a:spcBef>
        <a:buFont typeface="Arial" panose="020B0604020202020204" pitchFamily="34" charset="0"/>
        <a:buChar char="•"/>
        <a:defRPr sz="3673" kern="1200">
          <a:solidFill>
            <a:schemeClr val="tx1"/>
          </a:solidFill>
          <a:latin typeface="+mn-lt"/>
          <a:ea typeface="+mn-ea"/>
          <a:cs typeface="+mn-cs"/>
        </a:defRPr>
      </a:lvl5pPr>
      <a:lvl6pPr marL="5131041" indent="-466458" algn="l" defTabSz="1865833" rtl="0" eaLnBrk="1" latinLnBrk="0" hangingPunct="1">
        <a:lnSpc>
          <a:spcPct val="90000"/>
        </a:lnSpc>
        <a:spcBef>
          <a:spcPts val="1020"/>
        </a:spcBef>
        <a:buFont typeface="Arial" panose="020B0604020202020204" pitchFamily="34" charset="0"/>
        <a:buChar char="•"/>
        <a:defRPr sz="3673" kern="1200">
          <a:solidFill>
            <a:schemeClr val="tx1"/>
          </a:solidFill>
          <a:latin typeface="+mn-lt"/>
          <a:ea typeface="+mn-ea"/>
          <a:cs typeface="+mn-cs"/>
        </a:defRPr>
      </a:lvl6pPr>
      <a:lvl7pPr marL="6063958" indent="-466458" algn="l" defTabSz="1865833" rtl="0" eaLnBrk="1" latinLnBrk="0" hangingPunct="1">
        <a:lnSpc>
          <a:spcPct val="90000"/>
        </a:lnSpc>
        <a:spcBef>
          <a:spcPts val="1020"/>
        </a:spcBef>
        <a:buFont typeface="Arial" panose="020B0604020202020204" pitchFamily="34" charset="0"/>
        <a:buChar char="•"/>
        <a:defRPr sz="3673" kern="1200">
          <a:solidFill>
            <a:schemeClr val="tx1"/>
          </a:solidFill>
          <a:latin typeface="+mn-lt"/>
          <a:ea typeface="+mn-ea"/>
          <a:cs typeface="+mn-cs"/>
        </a:defRPr>
      </a:lvl7pPr>
      <a:lvl8pPr marL="6996875" indent="-466458" algn="l" defTabSz="1865833" rtl="0" eaLnBrk="1" latinLnBrk="0" hangingPunct="1">
        <a:lnSpc>
          <a:spcPct val="90000"/>
        </a:lnSpc>
        <a:spcBef>
          <a:spcPts val="1020"/>
        </a:spcBef>
        <a:buFont typeface="Arial" panose="020B0604020202020204" pitchFamily="34" charset="0"/>
        <a:buChar char="•"/>
        <a:defRPr sz="3673" kern="1200">
          <a:solidFill>
            <a:schemeClr val="tx1"/>
          </a:solidFill>
          <a:latin typeface="+mn-lt"/>
          <a:ea typeface="+mn-ea"/>
          <a:cs typeface="+mn-cs"/>
        </a:defRPr>
      </a:lvl8pPr>
      <a:lvl9pPr marL="7929791" indent="-466458" algn="l" defTabSz="1865833" rtl="0" eaLnBrk="1" latinLnBrk="0" hangingPunct="1">
        <a:lnSpc>
          <a:spcPct val="90000"/>
        </a:lnSpc>
        <a:spcBef>
          <a:spcPts val="1020"/>
        </a:spcBef>
        <a:buFont typeface="Arial" panose="020B0604020202020204" pitchFamily="34" charset="0"/>
        <a:buChar char="•"/>
        <a:defRPr sz="3673" kern="1200">
          <a:solidFill>
            <a:schemeClr val="tx1"/>
          </a:solidFill>
          <a:latin typeface="+mn-lt"/>
          <a:ea typeface="+mn-ea"/>
          <a:cs typeface="+mn-cs"/>
        </a:defRPr>
      </a:lvl9pPr>
    </p:bodyStyle>
    <p:otherStyle>
      <a:defPPr>
        <a:defRPr lang="en-US"/>
      </a:defPPr>
      <a:lvl1pPr marL="0" algn="l" defTabSz="1865833" rtl="0" eaLnBrk="1" latinLnBrk="0" hangingPunct="1">
        <a:defRPr sz="3673" kern="1200">
          <a:solidFill>
            <a:schemeClr val="tx1"/>
          </a:solidFill>
          <a:latin typeface="+mn-lt"/>
          <a:ea typeface="+mn-ea"/>
          <a:cs typeface="+mn-cs"/>
        </a:defRPr>
      </a:lvl1pPr>
      <a:lvl2pPr marL="932917" algn="l" defTabSz="1865833" rtl="0" eaLnBrk="1" latinLnBrk="0" hangingPunct="1">
        <a:defRPr sz="3673" kern="1200">
          <a:solidFill>
            <a:schemeClr val="tx1"/>
          </a:solidFill>
          <a:latin typeface="+mn-lt"/>
          <a:ea typeface="+mn-ea"/>
          <a:cs typeface="+mn-cs"/>
        </a:defRPr>
      </a:lvl2pPr>
      <a:lvl3pPr marL="1865833" algn="l" defTabSz="1865833" rtl="0" eaLnBrk="1" latinLnBrk="0" hangingPunct="1">
        <a:defRPr sz="3673" kern="1200">
          <a:solidFill>
            <a:schemeClr val="tx1"/>
          </a:solidFill>
          <a:latin typeface="+mn-lt"/>
          <a:ea typeface="+mn-ea"/>
          <a:cs typeface="+mn-cs"/>
        </a:defRPr>
      </a:lvl3pPr>
      <a:lvl4pPr marL="2798750" algn="l" defTabSz="1865833" rtl="0" eaLnBrk="1" latinLnBrk="0" hangingPunct="1">
        <a:defRPr sz="3673" kern="1200">
          <a:solidFill>
            <a:schemeClr val="tx1"/>
          </a:solidFill>
          <a:latin typeface="+mn-lt"/>
          <a:ea typeface="+mn-ea"/>
          <a:cs typeface="+mn-cs"/>
        </a:defRPr>
      </a:lvl4pPr>
      <a:lvl5pPr marL="3731666" algn="l" defTabSz="1865833" rtl="0" eaLnBrk="1" latinLnBrk="0" hangingPunct="1">
        <a:defRPr sz="3673" kern="1200">
          <a:solidFill>
            <a:schemeClr val="tx1"/>
          </a:solidFill>
          <a:latin typeface="+mn-lt"/>
          <a:ea typeface="+mn-ea"/>
          <a:cs typeface="+mn-cs"/>
        </a:defRPr>
      </a:lvl5pPr>
      <a:lvl6pPr marL="4664583" algn="l" defTabSz="1865833" rtl="0" eaLnBrk="1" latinLnBrk="0" hangingPunct="1">
        <a:defRPr sz="3673" kern="1200">
          <a:solidFill>
            <a:schemeClr val="tx1"/>
          </a:solidFill>
          <a:latin typeface="+mn-lt"/>
          <a:ea typeface="+mn-ea"/>
          <a:cs typeface="+mn-cs"/>
        </a:defRPr>
      </a:lvl6pPr>
      <a:lvl7pPr marL="5597500" algn="l" defTabSz="1865833" rtl="0" eaLnBrk="1" latinLnBrk="0" hangingPunct="1">
        <a:defRPr sz="3673" kern="1200">
          <a:solidFill>
            <a:schemeClr val="tx1"/>
          </a:solidFill>
          <a:latin typeface="+mn-lt"/>
          <a:ea typeface="+mn-ea"/>
          <a:cs typeface="+mn-cs"/>
        </a:defRPr>
      </a:lvl7pPr>
      <a:lvl8pPr marL="6530416" algn="l" defTabSz="1865833" rtl="0" eaLnBrk="1" latinLnBrk="0" hangingPunct="1">
        <a:defRPr sz="3673" kern="1200">
          <a:solidFill>
            <a:schemeClr val="tx1"/>
          </a:solidFill>
          <a:latin typeface="+mn-lt"/>
          <a:ea typeface="+mn-ea"/>
          <a:cs typeface="+mn-cs"/>
        </a:defRPr>
      </a:lvl8pPr>
      <a:lvl9pPr marL="7463333" algn="l" defTabSz="1865833" rtl="0" eaLnBrk="1" latinLnBrk="0" hangingPunct="1">
        <a:defRPr sz="36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nature.com/articles/s41558-025-02373-3"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bgs.ac.uk/news/uk-minerals-yearbook-2024-release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09955-B105-3AC5-1CAE-7E4465DF60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640E9B-7B94-2663-08F9-3DA8D7C65AA8}"/>
              </a:ext>
            </a:extLst>
          </p:cNvPr>
          <p:cNvSpPr txBox="1"/>
          <p:nvPr/>
        </p:nvSpPr>
        <p:spPr>
          <a:xfrm>
            <a:off x="6400279" y="7791598"/>
            <a:ext cx="12077154" cy="4037644"/>
          </a:xfrm>
          <a:prstGeom prst="rect">
            <a:avLst/>
          </a:prstGeom>
          <a:noFill/>
        </p:spPr>
        <p:txBody>
          <a:bodyPr wrap="square" rtlCol="0">
            <a:spAutoFit/>
          </a:bodyPr>
          <a:lstStyle/>
          <a:p>
            <a:pPr algn="ctr"/>
            <a:r>
              <a:rPr lang="en-GB" sz="4000" dirty="0">
                <a:solidFill>
                  <a:schemeClr val="tx1">
                    <a:lumMod val="50000"/>
                    <a:lumOff val="50000"/>
                  </a:schemeClr>
                </a:solidFill>
                <a:latin typeface="Abadi Extra Light" panose="020B0204020104020204" pitchFamily="34" charset="0"/>
              </a:rPr>
              <a:t>Mohammad Hemmati, PhD</a:t>
            </a:r>
          </a:p>
          <a:p>
            <a:pPr algn="ctr">
              <a:lnSpc>
                <a:spcPct val="150000"/>
              </a:lnSpc>
            </a:pPr>
            <a:r>
              <a:rPr lang="en-GB" sz="4000" dirty="0">
                <a:solidFill>
                  <a:schemeClr val="tx1">
                    <a:lumMod val="50000"/>
                    <a:lumOff val="50000"/>
                  </a:schemeClr>
                </a:solidFill>
                <a:latin typeface="Abadi Extra Light" panose="020B0204020104020204" pitchFamily="34" charset="0"/>
              </a:rPr>
              <a:t>Research Fellow </a:t>
            </a:r>
          </a:p>
          <a:p>
            <a:pPr algn="ctr">
              <a:lnSpc>
                <a:spcPct val="150000"/>
              </a:lnSpc>
            </a:pPr>
            <a:r>
              <a:rPr lang="en-GB" sz="3600" dirty="0">
                <a:solidFill>
                  <a:schemeClr val="tx1">
                    <a:lumMod val="50000"/>
                    <a:lumOff val="50000"/>
                  </a:schemeClr>
                </a:solidFill>
                <a:latin typeface="Abadi Extra Light" panose="020B0204020104020204" pitchFamily="34" charset="0"/>
              </a:rPr>
              <a:t>Department of Chemical Engineering </a:t>
            </a:r>
          </a:p>
          <a:p>
            <a:pPr algn="ctr">
              <a:lnSpc>
                <a:spcPct val="150000"/>
              </a:lnSpc>
            </a:pPr>
            <a:r>
              <a:rPr lang="en-GB" sz="3600" dirty="0">
                <a:solidFill>
                  <a:schemeClr val="tx1">
                    <a:lumMod val="50000"/>
                    <a:lumOff val="50000"/>
                  </a:schemeClr>
                </a:solidFill>
                <a:latin typeface="Abadi Extra Light" panose="020B0204020104020204" pitchFamily="34" charset="0"/>
              </a:rPr>
              <a:t>Centre for Process Systems Engineering (CPSE)</a:t>
            </a:r>
          </a:p>
          <a:p>
            <a:pPr algn="ctr">
              <a:lnSpc>
                <a:spcPct val="150000"/>
              </a:lnSpc>
            </a:pPr>
            <a:r>
              <a:rPr lang="en-GB" sz="3600" b="1" dirty="0">
                <a:solidFill>
                  <a:schemeClr val="tx1">
                    <a:lumMod val="50000"/>
                    <a:lumOff val="50000"/>
                  </a:schemeClr>
                </a:solidFill>
                <a:latin typeface="Abadi Extra Light" panose="020B0204020104020204" pitchFamily="34" charset="0"/>
              </a:rPr>
              <a:t>University College London</a:t>
            </a:r>
            <a:endParaRPr lang="en-GB" sz="4000" b="1" dirty="0">
              <a:solidFill>
                <a:schemeClr val="tx2"/>
              </a:solidFill>
              <a:latin typeface="Abadi" panose="020B0604020104020204" pitchFamily="34" charset="0"/>
            </a:endParaRPr>
          </a:p>
        </p:txBody>
      </p:sp>
      <p:sp>
        <p:nvSpPr>
          <p:cNvPr id="5" name="TextBox 4">
            <a:extLst>
              <a:ext uri="{FF2B5EF4-FFF2-40B4-BE49-F238E27FC236}">
                <a16:creationId xmlns:a16="http://schemas.microsoft.com/office/drawing/2014/main" id="{3AAB0F0F-8E95-3D3E-42FF-B150F37E46DA}"/>
              </a:ext>
            </a:extLst>
          </p:cNvPr>
          <p:cNvSpPr txBox="1"/>
          <p:nvPr/>
        </p:nvSpPr>
        <p:spPr>
          <a:xfrm>
            <a:off x="3613371" y="5447192"/>
            <a:ext cx="18493273" cy="1015663"/>
          </a:xfrm>
          <a:prstGeom prst="rect">
            <a:avLst/>
          </a:prstGeom>
          <a:noFill/>
        </p:spPr>
        <p:txBody>
          <a:bodyPr wrap="square" rtlCol="0">
            <a:spAutoFit/>
          </a:bodyPr>
          <a:lstStyle/>
          <a:p>
            <a:pPr algn="ctr"/>
            <a:r>
              <a:rPr lang="en-GB" sz="6000" b="1" dirty="0">
                <a:solidFill>
                  <a:schemeClr val="tx2"/>
                </a:solidFill>
                <a:latin typeface="Abadi" panose="020B0604020104020204" pitchFamily="34" charset="0"/>
              </a:rPr>
              <a:t>UK Energy Transition with Critical Mineral Constraint</a:t>
            </a:r>
          </a:p>
        </p:txBody>
      </p:sp>
      <p:sp>
        <p:nvSpPr>
          <p:cNvPr id="6" name="Rectangle 5">
            <a:extLst>
              <a:ext uri="{FF2B5EF4-FFF2-40B4-BE49-F238E27FC236}">
                <a16:creationId xmlns:a16="http://schemas.microsoft.com/office/drawing/2014/main" id="{862ACA69-E40C-CA81-2010-3226EB297E95}"/>
              </a:ext>
            </a:extLst>
          </p:cNvPr>
          <p:cNvSpPr/>
          <p:nvPr/>
        </p:nvSpPr>
        <p:spPr>
          <a:xfrm>
            <a:off x="206423" y="2083798"/>
            <a:ext cx="24464865" cy="542724"/>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4" descr="People | Research groups | Imperial College London">
            <a:extLst>
              <a:ext uri="{FF2B5EF4-FFF2-40B4-BE49-F238E27FC236}">
                <a16:creationId xmlns:a16="http://schemas.microsoft.com/office/drawing/2014/main" id="{E545B226-D405-5B97-3F0D-6CEB57694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8038" y="161942"/>
            <a:ext cx="5092917" cy="192185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white logo&#10;&#10;AI-generated content may be incorrect.">
            <a:extLst>
              <a:ext uri="{FF2B5EF4-FFF2-40B4-BE49-F238E27FC236}">
                <a16:creationId xmlns:a16="http://schemas.microsoft.com/office/drawing/2014/main" id="{015D6666-E084-7251-ADE6-23A591CC52BE}"/>
              </a:ext>
            </a:extLst>
          </p:cNvPr>
          <p:cNvPicPr>
            <a:picLocks noChangeAspect="1"/>
          </p:cNvPicPr>
          <p:nvPr/>
        </p:nvPicPr>
        <p:blipFill>
          <a:blip r:embed="rId3"/>
          <a:stretch>
            <a:fillRect/>
          </a:stretch>
        </p:blipFill>
        <p:spPr>
          <a:xfrm>
            <a:off x="22106644" y="727100"/>
            <a:ext cx="2328955" cy="791540"/>
          </a:xfrm>
          <a:prstGeom prst="rect">
            <a:avLst/>
          </a:prstGeom>
        </p:spPr>
      </p:pic>
      <p:sp>
        <p:nvSpPr>
          <p:cNvPr id="13" name="TextBox 12">
            <a:extLst>
              <a:ext uri="{FF2B5EF4-FFF2-40B4-BE49-F238E27FC236}">
                <a16:creationId xmlns:a16="http://schemas.microsoft.com/office/drawing/2014/main" id="{A7EB12FD-A020-D8DC-0DBF-3C5B9C021BEF}"/>
              </a:ext>
            </a:extLst>
          </p:cNvPr>
          <p:cNvSpPr txBox="1"/>
          <p:nvPr/>
        </p:nvSpPr>
        <p:spPr>
          <a:xfrm>
            <a:off x="3613370" y="13157985"/>
            <a:ext cx="18493273" cy="646331"/>
          </a:xfrm>
          <a:prstGeom prst="rect">
            <a:avLst/>
          </a:prstGeom>
          <a:noFill/>
        </p:spPr>
        <p:txBody>
          <a:bodyPr wrap="square" rtlCol="0">
            <a:spAutoFit/>
          </a:bodyPr>
          <a:lstStyle/>
          <a:p>
            <a:pPr algn="ctr"/>
            <a:r>
              <a:rPr lang="en-GB" sz="3600" b="1" dirty="0">
                <a:solidFill>
                  <a:schemeClr val="tx2"/>
                </a:solidFill>
                <a:latin typeface="Abadi" panose="020B0604020104020204" pitchFamily="34" charset="0"/>
              </a:rPr>
              <a:t>Dec 2025</a:t>
            </a:r>
          </a:p>
        </p:txBody>
      </p:sp>
    </p:spTree>
    <p:extLst>
      <p:ext uri="{BB962C8B-B14F-4D97-AF65-F5344CB8AC3E}">
        <p14:creationId xmlns:p14="http://schemas.microsoft.com/office/powerpoint/2010/main" val="2761590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D1983-28D6-D95A-0085-DB51AE4174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208935-3878-FF1E-7798-08EF766FDD75}"/>
              </a:ext>
            </a:extLst>
          </p:cNvPr>
          <p:cNvSpPr txBox="1"/>
          <p:nvPr/>
        </p:nvSpPr>
        <p:spPr>
          <a:xfrm>
            <a:off x="916700" y="318772"/>
            <a:ext cx="22654727" cy="707886"/>
          </a:xfrm>
          <a:prstGeom prst="rect">
            <a:avLst/>
          </a:prstGeom>
          <a:noFill/>
        </p:spPr>
        <p:txBody>
          <a:bodyPr wrap="square" rtlCol="0">
            <a:spAutoFit/>
          </a:bodyPr>
          <a:lstStyle/>
          <a:p>
            <a:r>
              <a:rPr lang="en-GB" sz="4000" b="1" dirty="0"/>
              <a:t>Methodology</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01706CA-9C98-FBCD-6F9F-EA2C3B78547F}"/>
                  </a:ext>
                </a:extLst>
              </p:cNvPr>
              <p:cNvSpPr txBox="1"/>
              <p:nvPr/>
            </p:nvSpPr>
            <p:spPr>
              <a:xfrm>
                <a:off x="1460177" y="1026658"/>
                <a:ext cx="22654727" cy="2714718"/>
              </a:xfrm>
              <a:prstGeom prst="rect">
                <a:avLst/>
              </a:prstGeom>
              <a:noFill/>
            </p:spPr>
            <p:txBody>
              <a:bodyPr wrap="square">
                <a:spAutoFit/>
              </a:bodyPr>
              <a:lstStyle/>
              <a:p>
                <a:pPr algn="just">
                  <a:lnSpc>
                    <a:spcPct val="150000"/>
                  </a:lnSpc>
                  <a:spcAft>
                    <a:spcPts val="800"/>
                  </a:spcAft>
                  <a:buNone/>
                </a:pPr>
                <a:r>
                  <a:rPr lang="en-GB" sz="2800" kern="100" dirty="0">
                    <a:effectLst/>
                    <a:latin typeface="Times New Roman" panose="02020603050405020304" pitchFamily="18" charset="0"/>
                    <a:ea typeface="Aptos" panose="020B0004020202020204" pitchFamily="34" charset="0"/>
                    <a:cs typeface="Arial" panose="020B0604020202020204" pitchFamily="34" charset="0"/>
                  </a:rPr>
                  <a:t>Critical mineral consumption associated with the energy system, is quantified through a technology-specific, intensity-based material accounting framework. For each technology </a:t>
                </a:r>
                <a14:m>
                  <m:oMath xmlns:m="http://schemas.openxmlformats.org/officeDocument/2006/math">
                    <m:r>
                      <a:rPr lang="en-GB" sz="2800" i="1" kern="100">
                        <a:effectLst/>
                        <a:latin typeface="Cambria Math" panose="02040503050406030204" pitchFamily="18" charset="0"/>
                        <a:ea typeface="Aptos" panose="020B0004020202020204" pitchFamily="34" charset="0"/>
                        <a:cs typeface="Times New Roman" panose="02020603050405020304" pitchFamily="18" charset="0"/>
                      </a:rPr>
                      <m:t>𝑗</m:t>
                    </m:r>
                  </m:oMath>
                </a14:m>
                <a:r>
                  <a:rPr lang="en-GB" sz="2800" kern="100" dirty="0">
                    <a:effectLst/>
                    <a:latin typeface="Times New Roman" panose="02020603050405020304" pitchFamily="18" charset="0"/>
                    <a:ea typeface="Aptos" panose="020B0004020202020204" pitchFamily="34" charset="0"/>
                    <a:cs typeface="Arial" panose="020B0604020202020204" pitchFamily="34" charset="0"/>
                  </a:rPr>
                  <a:t>, the annual consumption of critical mineral </a:t>
                </a:r>
                <a14:m>
                  <m:oMath xmlns:m="http://schemas.openxmlformats.org/officeDocument/2006/math">
                    <m:r>
                      <a:rPr lang="en-GB" sz="2800" i="1" kern="100">
                        <a:effectLst/>
                        <a:latin typeface="Cambria Math" panose="02040503050406030204" pitchFamily="18" charset="0"/>
                        <a:ea typeface="Aptos" panose="020B0004020202020204" pitchFamily="34" charset="0"/>
                        <a:cs typeface="Times New Roman" panose="02020603050405020304" pitchFamily="18" charset="0"/>
                      </a:rPr>
                      <m:t>𝑚</m:t>
                    </m:r>
                  </m:oMath>
                </a14:m>
                <a:r>
                  <a:rPr lang="en-GB" sz="2800" kern="100" dirty="0">
                    <a:effectLst/>
                    <a:latin typeface="Times New Roman" panose="02020603050405020304" pitchFamily="18" charset="0"/>
                    <a:ea typeface="Times New Roman" panose="02020603050405020304" pitchFamily="18" charset="0"/>
                    <a:cs typeface="Arial" panose="020B0604020202020204" pitchFamily="34" charset="0"/>
                  </a:rPr>
                  <a:t> </a:t>
                </a:r>
                <a:r>
                  <a:rPr lang="en-GB" sz="2800" kern="100" dirty="0">
                    <a:effectLst/>
                    <a:latin typeface="Times New Roman" panose="02020603050405020304" pitchFamily="18" charset="0"/>
                    <a:ea typeface="Aptos" panose="020B0004020202020204" pitchFamily="34" charset="0"/>
                    <a:cs typeface="Arial" panose="020B0604020202020204" pitchFamily="34" charset="0"/>
                  </a:rPr>
                  <a:t>is calculated by multiplying the volume of newly installed capacity (GW) by the corresponding mineral intensity (ton/GW).</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n-GB" sz="2800" kern="100" dirty="0">
                    <a:effectLst/>
                    <a:latin typeface="Times New Roman" panose="02020603050405020304" pitchFamily="18" charset="0"/>
                    <a:ea typeface="Aptos" panose="020B0004020202020204" pitchFamily="34" charset="0"/>
                    <a:cs typeface="Arial" panose="020B0604020202020204" pitchFamily="34" charset="0"/>
                  </a:rPr>
                  <a:t>Mineral intensity values for technologies are sourced from </a:t>
                </a:r>
                <a:r>
                  <a:rPr lang="en-GB" sz="2800" b="1" kern="100" dirty="0">
                    <a:solidFill>
                      <a:srgbClr val="0070C0"/>
                    </a:solidFill>
                    <a:latin typeface="Times New Roman" panose="02020603050405020304" pitchFamily="18" charset="0"/>
                    <a:ea typeface="Aptos" panose="020B0004020202020204" pitchFamily="34" charset="0"/>
                    <a:cs typeface="Arial" panose="020B0604020202020204" pitchFamily="34" charset="0"/>
                  </a:rPr>
                  <a:t>[1].</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p:txBody>
          </p:sp>
        </mc:Choice>
        <mc:Fallback>
          <p:sp>
            <p:nvSpPr>
              <p:cNvPr id="4" name="TextBox 3">
                <a:extLst>
                  <a:ext uri="{FF2B5EF4-FFF2-40B4-BE49-F238E27FC236}">
                    <a16:creationId xmlns:a16="http://schemas.microsoft.com/office/drawing/2014/main" id="{301706CA-9C98-FBCD-6F9F-EA2C3B78547F}"/>
                  </a:ext>
                </a:extLst>
              </p:cNvPr>
              <p:cNvSpPr txBox="1">
                <a:spLocks noRot="1" noChangeAspect="1" noMove="1" noResize="1" noEditPoints="1" noAdjustHandles="1" noChangeArrowheads="1" noChangeShapeType="1" noTextEdit="1"/>
              </p:cNvSpPr>
              <p:nvPr/>
            </p:nvSpPr>
            <p:spPr>
              <a:xfrm>
                <a:off x="1460177" y="1026658"/>
                <a:ext cx="22654727" cy="2714718"/>
              </a:xfrm>
              <a:prstGeom prst="rect">
                <a:avLst/>
              </a:prstGeom>
              <a:blipFill>
                <a:blip r:embed="rId2"/>
                <a:stretch>
                  <a:fillRect l="-565" r="-538" b="-4709"/>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3C93D692-4949-277C-0960-FE7544C993E1}"/>
              </a:ext>
            </a:extLst>
          </p:cNvPr>
          <p:cNvSpPr txBox="1"/>
          <p:nvPr/>
        </p:nvSpPr>
        <p:spPr>
          <a:xfrm>
            <a:off x="1460178" y="4198370"/>
            <a:ext cx="22654726" cy="4756302"/>
          </a:xfrm>
          <a:prstGeom prst="rect">
            <a:avLst/>
          </a:prstGeom>
          <a:noFill/>
        </p:spPr>
        <p:txBody>
          <a:bodyPr wrap="square">
            <a:spAutoFit/>
          </a:bodyPr>
          <a:lstStyle/>
          <a:p>
            <a:pPr algn="just">
              <a:lnSpc>
                <a:spcPct val="150000"/>
              </a:lnSpc>
              <a:spcAft>
                <a:spcPts val="800"/>
              </a:spcAft>
              <a:buNone/>
            </a:pPr>
            <a:r>
              <a:rPr lang="en-GB" sz="2800" b="1" kern="100" dirty="0">
                <a:effectLst/>
                <a:latin typeface="Times New Roman" panose="02020603050405020304" pitchFamily="18" charset="0"/>
                <a:ea typeface="Aptos" panose="020B0004020202020204" pitchFamily="34" charset="0"/>
                <a:cs typeface="Arial" panose="020B0604020202020204" pitchFamily="34" charset="0"/>
              </a:rPr>
              <a:t>Estimation of total available critical minerals</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n-GB" sz="2800" kern="100" dirty="0">
                <a:effectLst/>
                <a:latin typeface="Times New Roman" panose="02020603050405020304" pitchFamily="18" charset="0"/>
                <a:ea typeface="Aptos" panose="020B0004020202020204" pitchFamily="34" charset="0"/>
                <a:cs typeface="Arial" panose="020B0604020202020204" pitchFamily="34" charset="0"/>
              </a:rPr>
              <a:t>Total domestically available critical minerals in the UK are modelled as the sum of three components: (</a:t>
            </a:r>
            <a:r>
              <a:rPr lang="en-GB" sz="2800" kern="100" dirty="0" err="1">
                <a:effectLst/>
                <a:latin typeface="Times New Roman" panose="02020603050405020304" pitchFamily="18" charset="0"/>
                <a:ea typeface="Aptos" panose="020B0004020202020204" pitchFamily="34" charset="0"/>
                <a:cs typeface="Arial" panose="020B0604020202020204" pitchFamily="34" charset="0"/>
              </a:rPr>
              <a:t>i</a:t>
            </a:r>
            <a:r>
              <a:rPr lang="en-GB" sz="2800" kern="100" dirty="0">
                <a:effectLst/>
                <a:latin typeface="Times New Roman" panose="02020603050405020304" pitchFamily="18" charset="0"/>
                <a:ea typeface="Aptos" panose="020B0004020202020204" pitchFamily="34" charset="0"/>
                <a:cs typeface="Arial" panose="020B0604020202020204" pitchFamily="34" charset="0"/>
              </a:rPr>
              <a:t>) imports, (ii) secondary supply from recovery and recycling of end-of-life technologies, and (iii) domestic production from existing resource stocks. Supply data for all three categories are taken from and correspond to UK-level availability at the end of 2023 </a:t>
            </a:r>
            <a:r>
              <a:rPr lang="en-GB" sz="2800" b="1" kern="100" dirty="0">
                <a:solidFill>
                  <a:srgbClr val="0070C0"/>
                </a:solidFill>
                <a:latin typeface="Times New Roman" panose="02020603050405020304" pitchFamily="18" charset="0"/>
                <a:ea typeface="Aptos" panose="020B0004020202020204" pitchFamily="34" charset="0"/>
                <a:cs typeface="Arial" panose="020B0604020202020204" pitchFamily="34" charset="0"/>
              </a:rPr>
              <a:t>[2].</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50000"/>
              </a:lnSpc>
              <a:spcAft>
                <a:spcPts val="800"/>
              </a:spcAft>
              <a:buNone/>
            </a:pPr>
            <a:r>
              <a:rPr lang="en-GB" sz="2800" kern="100" dirty="0">
                <a:effectLst/>
                <a:latin typeface="Times New Roman" panose="02020603050405020304" pitchFamily="18" charset="0"/>
                <a:ea typeface="Aptos" panose="020B0004020202020204" pitchFamily="34" charset="0"/>
                <a:cs typeface="Arial" panose="020B0604020202020204" pitchFamily="34" charset="0"/>
              </a:rPr>
              <a:t>It is important to note that this represents the aggregate mineral availability for the entire UK economy. Only a portion of this national stock is assumed to be accessible to the energy sector, given ongoing mineral demand from other industries (e.g., transportation, electronics, defence). The proportion coefficient is taken from </a:t>
            </a:r>
            <a:r>
              <a:rPr lang="en-GB" sz="2800" b="1" kern="100" dirty="0">
                <a:solidFill>
                  <a:srgbClr val="0070C0"/>
                </a:solidFill>
                <a:effectLst/>
                <a:latin typeface="Times New Roman" panose="02020603050405020304" pitchFamily="18" charset="0"/>
                <a:ea typeface="Aptos" panose="020B0004020202020204" pitchFamily="34" charset="0"/>
                <a:cs typeface="Arial" panose="020B0604020202020204" pitchFamily="34" charset="0"/>
              </a:rPr>
              <a:t>[1]</a:t>
            </a:r>
            <a:r>
              <a:rPr lang="en-GB" sz="2800" kern="100" dirty="0">
                <a:effectLst/>
                <a:latin typeface="Times New Roman" panose="02020603050405020304" pitchFamily="18" charset="0"/>
                <a:ea typeface="Aptos" panose="020B0004020202020204" pitchFamily="34" charset="0"/>
                <a:cs typeface="Arial" panose="020B0604020202020204" pitchFamily="34" charset="0"/>
              </a:rPr>
              <a:t>. The analysis assumes that current domestic resource availability cannot be expanded during the modelling horizon.</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CA43CA5-EB28-3061-7D9F-38B189E46C74}"/>
              </a:ext>
            </a:extLst>
          </p:cNvPr>
          <p:cNvSpPr txBox="1"/>
          <p:nvPr/>
        </p:nvSpPr>
        <p:spPr>
          <a:xfrm>
            <a:off x="1460177" y="9799047"/>
            <a:ext cx="22654726" cy="954107"/>
          </a:xfrm>
          <a:prstGeom prst="rect">
            <a:avLst/>
          </a:prstGeom>
          <a:noFill/>
        </p:spPr>
        <p:txBody>
          <a:bodyPr wrap="square">
            <a:spAutoFit/>
          </a:bodyPr>
          <a:lstStyle/>
          <a:p>
            <a:pPr algn="just">
              <a:buNone/>
            </a:pPr>
            <a:r>
              <a:rPr lang="en-GB" sz="2800" dirty="0">
                <a:latin typeface="Times New Roman" panose="02020603050405020304" pitchFamily="18" charset="0"/>
                <a:cs typeface="Times New Roman" panose="02020603050405020304" pitchFamily="18" charset="0"/>
              </a:rPr>
              <a:t>The contribution of recovered minerals is estimated by applying a recovery factor to the stock of technologies expected to reach end of life or be decommissioned during the planning period:</a:t>
            </a:r>
          </a:p>
        </p:txBody>
      </p:sp>
      <p:sp>
        <p:nvSpPr>
          <p:cNvPr id="12" name="TextBox 11">
            <a:extLst>
              <a:ext uri="{FF2B5EF4-FFF2-40B4-BE49-F238E27FC236}">
                <a16:creationId xmlns:a16="http://schemas.microsoft.com/office/drawing/2014/main" id="{8EABAF6A-ADA8-EBD1-D81F-217D7E1F9683}"/>
              </a:ext>
            </a:extLst>
          </p:cNvPr>
          <p:cNvSpPr txBox="1"/>
          <p:nvPr/>
        </p:nvSpPr>
        <p:spPr>
          <a:xfrm>
            <a:off x="1982753" y="11875297"/>
            <a:ext cx="22132150" cy="1877437"/>
          </a:xfrm>
          <a:prstGeom prst="rect">
            <a:avLst/>
          </a:prstGeom>
          <a:noFill/>
        </p:spPr>
        <p:txBody>
          <a:bodyPr wrap="square">
            <a:spAutoFit/>
          </a:bodyPr>
          <a:lstStyle/>
          <a:p>
            <a:r>
              <a:rPr lang="en-GB" sz="2800" b="1" kern="100" dirty="0">
                <a:solidFill>
                  <a:srgbClr val="0070C0"/>
                </a:solidFill>
                <a:effectLst/>
                <a:latin typeface="Times New Roman" panose="02020603050405020304" pitchFamily="18" charset="0"/>
                <a:ea typeface="Aptos" panose="020B0004020202020204" pitchFamily="34" charset="0"/>
                <a:cs typeface="Arial" panose="020B0604020202020204" pitchFamily="34" charset="0"/>
              </a:rPr>
              <a:t>[1]</a:t>
            </a:r>
            <a:r>
              <a:rPr lang="en-GB" sz="2800" kern="100" dirty="0">
                <a:solidFill>
                  <a:srgbClr val="0070C0"/>
                </a:solidFill>
                <a:effectLst/>
                <a:latin typeface="Times New Roman" panose="02020603050405020304" pitchFamily="18" charset="0"/>
                <a:ea typeface="Aptos" panose="020B0004020202020204" pitchFamily="34" charset="0"/>
                <a:cs typeface="Arial" panose="020B0604020202020204" pitchFamily="34" charset="0"/>
              </a:rPr>
              <a:t>. </a:t>
            </a:r>
            <a:r>
              <a:rPr lang="en-GB" sz="2400" dirty="0">
                <a:solidFill>
                  <a:srgbClr val="0070C0"/>
                </a:solidFill>
              </a:rPr>
              <a:t>Wei, Y. M., Liu, L. C., Kang, J. N., Zhang, Y., Peng, S., Liao, H., ... &amp; Yu, B. (2025). Navigating energy transition solutions for climate targets with minerals constraint. </a:t>
            </a:r>
            <a:r>
              <a:rPr lang="en-GB" sz="2400" i="1" dirty="0">
                <a:solidFill>
                  <a:srgbClr val="0070C0"/>
                </a:solidFill>
              </a:rPr>
              <a:t>Nature Climate Change</a:t>
            </a:r>
            <a:r>
              <a:rPr lang="en-GB" sz="2400" dirty="0">
                <a:solidFill>
                  <a:srgbClr val="0070C0"/>
                </a:solidFill>
              </a:rPr>
              <a:t>, </a:t>
            </a:r>
            <a:r>
              <a:rPr lang="en-GB" sz="2400" i="1" dirty="0">
                <a:solidFill>
                  <a:srgbClr val="0070C0"/>
                </a:solidFill>
              </a:rPr>
              <a:t>15</a:t>
            </a:r>
            <a:r>
              <a:rPr lang="en-GB" sz="2400" dirty="0">
                <a:solidFill>
                  <a:srgbClr val="0070C0"/>
                </a:solidFill>
              </a:rPr>
              <a:t>(8), 833-841.  </a:t>
            </a:r>
            <a:r>
              <a:rPr lang="en-GB" sz="2400" i="1" dirty="0">
                <a:solidFill>
                  <a:srgbClr val="0070C0"/>
                </a:solidFill>
                <a:hlinkClick r:id="rId3">
                  <a:extLst>
                    <a:ext uri="{A12FA001-AC4F-418D-AE19-62706E023703}">
                      <ahyp:hlinkClr xmlns:ahyp="http://schemas.microsoft.com/office/drawing/2018/hyperlinkcolor" val="tx"/>
                    </a:ext>
                  </a:extLst>
                </a:hlinkClick>
              </a:rPr>
              <a:t>https://www.nature.com/articles/s41558-025-02373-3</a:t>
            </a:r>
            <a:r>
              <a:rPr lang="en-GB" sz="2400" i="1" dirty="0">
                <a:solidFill>
                  <a:srgbClr val="0070C0"/>
                </a:solidFill>
              </a:rPr>
              <a:t> </a:t>
            </a:r>
          </a:p>
          <a:p>
            <a:endParaRPr lang="en-GB" sz="3200" kern="100" dirty="0">
              <a:latin typeface="Times New Roman" panose="02020603050405020304" pitchFamily="18" charset="0"/>
              <a:ea typeface="Aptos" panose="020B0004020202020204" pitchFamily="34" charset="0"/>
              <a:cs typeface="Arial" panose="020B0604020202020204" pitchFamily="34" charset="0"/>
            </a:endParaRPr>
          </a:p>
          <a:p>
            <a:r>
              <a:rPr lang="en-GB" sz="2800" b="1" kern="100" dirty="0">
                <a:solidFill>
                  <a:srgbClr val="0070C0"/>
                </a:solidFill>
                <a:effectLst/>
                <a:latin typeface="Times New Roman" panose="02020603050405020304" pitchFamily="18" charset="0"/>
                <a:ea typeface="Aptos" panose="020B0004020202020204" pitchFamily="34" charset="0"/>
                <a:cs typeface="Arial" panose="020B0604020202020204" pitchFamily="34" charset="0"/>
              </a:rPr>
              <a:t>[2]. </a:t>
            </a:r>
            <a:r>
              <a:rPr lang="en-GB" sz="2800" dirty="0">
                <a:solidFill>
                  <a:srgbClr val="0070C0"/>
                </a:solidFill>
                <a:hlinkClick r:id="rId4">
                  <a:extLst>
                    <a:ext uri="{A12FA001-AC4F-418D-AE19-62706E023703}">
                      <ahyp:hlinkClr xmlns:ahyp="http://schemas.microsoft.com/office/drawing/2018/hyperlinkcolor" val="tx"/>
                    </a:ext>
                  </a:extLst>
                </a:hlinkClick>
              </a:rPr>
              <a:t>UK Minerals Yearbook 2024</a:t>
            </a:r>
            <a:r>
              <a:rPr lang="en-GB" sz="2800" dirty="0">
                <a:solidFill>
                  <a:srgbClr val="0070C0"/>
                </a:solidFill>
              </a:rPr>
              <a:t> </a:t>
            </a:r>
            <a:endParaRPr lang="en-GB" sz="2400" dirty="0">
              <a:solidFill>
                <a:srgbClr val="0070C0"/>
              </a:solidFill>
            </a:endParaRPr>
          </a:p>
        </p:txBody>
      </p:sp>
    </p:spTree>
    <p:extLst>
      <p:ext uri="{BB962C8B-B14F-4D97-AF65-F5344CB8AC3E}">
        <p14:creationId xmlns:p14="http://schemas.microsoft.com/office/powerpoint/2010/main" val="2891849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04309-EFB6-8E99-C6D7-A9CC607F3F93}"/>
              </a:ext>
            </a:extLst>
          </p:cNvPr>
          <p:cNvSpPr>
            <a:spLocks noGrp="1"/>
          </p:cNvSpPr>
          <p:nvPr>
            <p:ph type="title"/>
          </p:nvPr>
        </p:nvSpPr>
        <p:spPr>
          <a:xfrm>
            <a:off x="1486408" y="755796"/>
            <a:ext cx="21457027" cy="649922"/>
          </a:xfrm>
          <a:noFill/>
        </p:spPr>
        <p:txBody>
          <a:bodyPr wrap="square" rtlCol="0">
            <a:spAutoFit/>
          </a:bodyPr>
          <a:lstStyle/>
          <a:p>
            <a:pPr defTabSz="457200"/>
            <a:r>
              <a:rPr lang="en-GB" sz="4000" b="1" dirty="0">
                <a:latin typeface="+mn-lt"/>
                <a:ea typeface="+mn-ea"/>
                <a:cs typeface="+mn-cs"/>
              </a:rPr>
              <a:t>Summary of formulation</a:t>
            </a: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34C20C79-87F5-4FB4-BAE5-45913D4B9848}"/>
                  </a:ext>
                </a:extLst>
              </p:cNvPr>
              <p:cNvGraphicFramePr>
                <a:graphicFrameLocks noGrp="1"/>
              </p:cNvGraphicFramePr>
              <p:nvPr>
                <p:extLst>
                  <p:ext uri="{D42A27DB-BD31-4B8C-83A1-F6EECF244321}">
                    <p14:modId xmlns:p14="http://schemas.microsoft.com/office/powerpoint/2010/main" val="1874205311"/>
                  </p:ext>
                </p:extLst>
              </p:nvPr>
            </p:nvGraphicFramePr>
            <p:xfrm>
              <a:off x="13068457" y="371250"/>
              <a:ext cx="11553491" cy="10808589"/>
            </p:xfrm>
            <a:graphic>
              <a:graphicData uri="http://schemas.openxmlformats.org/drawingml/2006/table">
                <a:tbl>
                  <a:tblPr firstRow="1" firstCol="1" bandRow="1">
                    <a:tableStyleId>{5940675A-B579-460E-94D1-54222C63F5DA}</a:tableStyleId>
                  </a:tblPr>
                  <a:tblGrid>
                    <a:gridCol w="3445800">
                      <a:extLst>
                        <a:ext uri="{9D8B030D-6E8A-4147-A177-3AD203B41FA5}">
                          <a16:colId xmlns:a16="http://schemas.microsoft.com/office/drawing/2014/main" val="1873277514"/>
                        </a:ext>
                      </a:extLst>
                    </a:gridCol>
                    <a:gridCol w="8107691">
                      <a:extLst>
                        <a:ext uri="{9D8B030D-6E8A-4147-A177-3AD203B41FA5}">
                          <a16:colId xmlns:a16="http://schemas.microsoft.com/office/drawing/2014/main" val="3765139573"/>
                        </a:ext>
                      </a:extLst>
                    </a:gridCol>
                  </a:tblGrid>
                  <a:tr h="501419">
                    <a:tc>
                      <a:txBody>
                        <a:bodyPr/>
                        <a:lstStyle/>
                        <a:p>
                          <a:pPr>
                            <a:lnSpc>
                              <a:spcPct val="115000"/>
                            </a:lnSpc>
                            <a:spcAft>
                              <a:spcPts val="800"/>
                            </a:spcAft>
                            <a:buNone/>
                          </a:pPr>
                          <a:r>
                            <a:rPr lang="en-GB" sz="2800" kern="100" dirty="0">
                              <a:effectLst/>
                            </a:rPr>
                            <a:t>Indices</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800" kern="100">
                              <a:effectLst/>
                            </a:rPr>
                            <a:t>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100191225"/>
                      </a:ext>
                    </a:extLst>
                  </a:tr>
                  <a:tr h="501419">
                    <a:tc>
                      <a:txBody>
                        <a:bodyPr/>
                        <a:lstStyle/>
                        <a:p>
                          <a:pPr algn="ctr">
                            <a:lnSpc>
                              <a:spcPct val="115000"/>
                            </a:lnSpc>
                            <a:spcAft>
                              <a:spcPts val="800"/>
                            </a:spcAft>
                            <a:buNone/>
                          </a:pPr>
                          <a:r>
                            <a:rPr lang="en-GB" sz="2800" kern="100">
                              <a:effectLst/>
                            </a:rPr>
                            <a:t>m</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Index for critical mineral</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4175525690"/>
                      </a:ext>
                    </a:extLst>
                  </a:tr>
                  <a:tr h="501419">
                    <a:tc>
                      <a:txBody>
                        <a:bodyPr/>
                        <a:lstStyle/>
                        <a:p>
                          <a:pPr algn="ctr">
                            <a:lnSpc>
                              <a:spcPct val="115000"/>
                            </a:lnSpc>
                            <a:spcAft>
                              <a:spcPts val="800"/>
                            </a:spcAft>
                            <a:buNone/>
                          </a:pPr>
                          <a:r>
                            <a:rPr lang="en-GB" sz="2800" kern="100">
                              <a:effectLst/>
                            </a:rPr>
                            <a:t>t</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Intex for year</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164360119"/>
                      </a:ext>
                    </a:extLst>
                  </a:tr>
                  <a:tr h="501419">
                    <a:tc>
                      <a:txBody>
                        <a:bodyPr/>
                        <a:lstStyle/>
                        <a:p>
                          <a:pPr algn="ctr">
                            <a:lnSpc>
                              <a:spcPct val="115000"/>
                            </a:lnSpc>
                            <a:spcAft>
                              <a:spcPts val="800"/>
                            </a:spcAft>
                            <a:buNone/>
                          </a:pPr>
                          <a:r>
                            <a:rPr lang="en-GB" sz="2800" kern="100">
                              <a:effectLst/>
                            </a:rPr>
                            <a:t>j</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Index for technology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60642931"/>
                      </a:ext>
                    </a:extLst>
                  </a:tr>
                  <a:tr h="501419">
                    <a:tc>
                      <a:txBody>
                        <a:bodyPr/>
                        <a:lstStyle/>
                        <a:p>
                          <a:pPr algn="ctr">
                            <a:lnSpc>
                              <a:spcPct val="115000"/>
                            </a:lnSpc>
                            <a:spcAft>
                              <a:spcPts val="800"/>
                            </a:spcAft>
                            <a:buNone/>
                          </a:pPr>
                          <a:r>
                            <a:rPr lang="en-GB" sz="2800" kern="100">
                              <a:effectLst/>
                            </a:rPr>
                            <a:t>g</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Index for region</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54570475"/>
                      </a:ext>
                    </a:extLst>
                  </a:tr>
                  <a:tr h="501419">
                    <a:tc>
                      <a:txBody>
                        <a:bodyPr/>
                        <a:lstStyle/>
                        <a:p>
                          <a:pPr>
                            <a:lnSpc>
                              <a:spcPct val="115000"/>
                            </a:lnSpc>
                            <a:spcAft>
                              <a:spcPts val="800"/>
                            </a:spcAft>
                            <a:buNone/>
                          </a:pPr>
                          <a:r>
                            <a:rPr lang="en-GB" sz="2800" kern="100">
                              <a:effectLst/>
                            </a:rPr>
                            <a:t>Parameters</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297096059"/>
                      </a:ext>
                    </a:extLst>
                  </a:tr>
                  <a:tr h="67906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𝐼𝑛𝑡𝑒𝑛𝑠𝑖𝑡𝑦</m:t>
                                    </m:r>
                                  </m:e>
                                  <m:sub>
                                    <m:r>
                                      <a:rPr lang="en-GB" sz="2800" kern="100">
                                        <a:effectLst/>
                                        <a:latin typeface="Cambria Math" panose="02040503050406030204" pitchFamily="18" charset="0"/>
                                      </a:rPr>
                                      <m:t>𝑗</m:t>
                                    </m:r>
                                    <m:r>
                                      <a:rPr lang="en-GB" sz="2800" kern="100">
                                        <a:effectLst/>
                                        <a:latin typeface="Cambria Math" panose="02040503050406030204" pitchFamily="18" charset="0"/>
                                      </a:rPr>
                                      <m:t>,</m:t>
                                    </m:r>
                                    <m:r>
                                      <a:rPr lang="en-GB" sz="2800" kern="100">
                                        <a:effectLst/>
                                        <a:latin typeface="Cambria Math" panose="02040503050406030204" pitchFamily="18" charset="0"/>
                                      </a:rPr>
                                      <m:t>𝑚</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Intensity of critical mineral m for technology j [ton/GW]</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314659896"/>
                      </a:ext>
                    </a:extLst>
                  </a:tr>
                  <a:tr h="63661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𝑅𝐸𝐶</m:t>
                                    </m:r>
                                  </m:e>
                                  <m:sub>
                                    <m:r>
                                      <a:rPr lang="en-GB" sz="2800" kern="100">
                                        <a:effectLst/>
                                        <a:latin typeface="Cambria Math" panose="02040503050406030204" pitchFamily="18" charset="0"/>
                                      </a:rPr>
                                      <m:t>𝑚</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dirty="0">
                              <a:effectLst/>
                            </a:rPr>
                            <a:t>Recovery factor for critical mineral m</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4232726060"/>
                      </a:ext>
                    </a:extLst>
                  </a:tr>
                  <a:tr h="63661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𝑘</m:t>
                                    </m:r>
                                  </m:e>
                                  <m:sub>
                                    <m:r>
                                      <a:rPr lang="en-GB" sz="2800" kern="100">
                                        <a:effectLst/>
                                        <a:latin typeface="Cambria Math" panose="02040503050406030204" pitchFamily="18" charset="0"/>
                                      </a:rPr>
                                      <m:t>𝑚</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dirty="0">
                              <a:effectLst/>
                            </a:rPr>
                            <a:t>Proportion of mineral that is used for energy sector</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1971100793"/>
                      </a:ext>
                    </a:extLst>
                  </a:tr>
                  <a:tr h="63661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𝐼𝑛𝑡𝐶𝑀</m:t>
                                    </m:r>
                                  </m:e>
                                  <m:sub>
                                    <m:r>
                                      <a:rPr lang="en-GB" sz="2800" kern="100">
                                        <a:effectLst/>
                                        <a:latin typeface="Cambria Math" panose="02040503050406030204" pitchFamily="18" charset="0"/>
                                      </a:rPr>
                                      <m:t>𝑚</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Initial available critical mineral m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443038391"/>
                      </a:ext>
                    </a:extLst>
                  </a:tr>
                  <a:tr h="501419">
                    <a:tc>
                      <a:txBody>
                        <a:bodyPr/>
                        <a:lstStyle/>
                        <a:p>
                          <a:pPr>
                            <a:lnSpc>
                              <a:spcPct val="115000"/>
                            </a:lnSpc>
                            <a:spcAft>
                              <a:spcPts val="800"/>
                            </a:spcAft>
                            <a:buNone/>
                          </a:pPr>
                          <a:r>
                            <a:rPr lang="en-GB" sz="2800" kern="100">
                              <a:effectLst/>
                            </a:rPr>
                            <a:t>Variables</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260008398"/>
                      </a:ext>
                    </a:extLst>
                  </a:tr>
                  <a:tr h="67947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𝐶𝑎𝑝𝑁𝑒𝑤</m:t>
                                    </m:r>
                                  </m:e>
                                  <m:sub>
                                    <m:r>
                                      <a:rPr lang="en-GB" sz="2800" kern="100">
                                        <a:effectLst/>
                                        <a:latin typeface="Cambria Math" panose="02040503050406030204" pitchFamily="18" charset="0"/>
                                      </a:rPr>
                                      <m:t>𝑗</m:t>
                                    </m:r>
                                    <m:r>
                                      <a:rPr lang="en-GB" sz="2800" kern="100">
                                        <a:effectLst/>
                                        <a:latin typeface="Cambria Math" panose="02040503050406030204" pitchFamily="18" charset="0"/>
                                      </a:rPr>
                                      <m:t>,</m:t>
                                    </m:r>
                                    <m:r>
                                      <a:rPr lang="en-GB" sz="2800" kern="100">
                                        <a:effectLst/>
                                        <a:latin typeface="Cambria Math" panose="02040503050406030204" pitchFamily="18" charset="0"/>
                                      </a:rPr>
                                      <m:t>𝑔</m:t>
                                    </m:r>
                                    <m:r>
                                      <a:rPr lang="en-GB" sz="2800" kern="100">
                                        <a:effectLst/>
                                        <a:latin typeface="Cambria Math" panose="02040503050406030204" pitchFamily="18" charset="0"/>
                                      </a:rPr>
                                      <m:t>,</m:t>
                                    </m:r>
                                    <m:r>
                                      <a:rPr lang="en-GB" sz="2800" kern="100">
                                        <a:effectLst/>
                                        <a:latin typeface="Cambria Math" panose="02040503050406030204" pitchFamily="18" charset="0"/>
                                      </a:rPr>
                                      <m:t>𝑡</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New installed capacity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791305028"/>
                      </a:ext>
                    </a:extLst>
                  </a:tr>
                  <a:tr h="67947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𝑇𝑅𝐶𝑁𝑒𝑤</m:t>
                                    </m:r>
                                  </m:e>
                                  <m:sub>
                                    <m:r>
                                      <a:rPr lang="en-GB" sz="2800" kern="100">
                                        <a:effectLst/>
                                        <a:latin typeface="Cambria Math" panose="02040503050406030204" pitchFamily="18" charset="0"/>
                                      </a:rPr>
                                      <m:t>𝑔</m:t>
                                    </m:r>
                                    <m:r>
                                      <a:rPr lang="en-GB" sz="2800" kern="100">
                                        <a:effectLst/>
                                        <a:latin typeface="Cambria Math" panose="02040503050406030204" pitchFamily="18" charset="0"/>
                                      </a:rPr>
                                      <m:t>,</m:t>
                                    </m:r>
                                    <m:r>
                                      <a:rPr lang="en-GB" sz="2800" kern="100">
                                        <a:effectLst/>
                                        <a:latin typeface="Cambria Math" panose="02040503050406030204" pitchFamily="18" charset="0"/>
                                      </a:rPr>
                                      <m:t>𝑔</m:t>
                                    </m:r>
                                    <m:r>
                                      <a:rPr lang="en-GB" sz="2800" kern="100">
                                        <a:effectLst/>
                                        <a:latin typeface="Cambria Math" panose="02040503050406030204" pitchFamily="18" charset="0"/>
                                      </a:rPr>
                                      <m:t>1,</m:t>
                                    </m:r>
                                    <m:r>
                                      <a:rPr lang="en-GB" sz="2800" kern="100">
                                        <a:effectLst/>
                                        <a:latin typeface="Cambria Math" panose="02040503050406030204" pitchFamily="18" charset="0"/>
                                      </a:rPr>
                                      <m:t>𝑡</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New Transmission capacity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1590987884"/>
                      </a:ext>
                    </a:extLst>
                  </a:tr>
                  <a:tr h="659755">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𝐶𝑀𝐷</m:t>
                                    </m:r>
                                  </m:e>
                                  <m:sub>
                                    <m:r>
                                      <a:rPr lang="en-GB" sz="2800" kern="100">
                                        <a:effectLst/>
                                        <a:latin typeface="Cambria Math" panose="02040503050406030204" pitchFamily="18" charset="0"/>
                                      </a:rPr>
                                      <m:t>𝑚</m:t>
                                    </m:r>
                                    <m:r>
                                      <a:rPr lang="en-GB" sz="2800" kern="100">
                                        <a:effectLst/>
                                        <a:latin typeface="Cambria Math" panose="02040503050406030204" pitchFamily="18" charset="0"/>
                                      </a:rPr>
                                      <m:t>,</m:t>
                                    </m:r>
                                    <m:r>
                                      <a:rPr lang="en-GB" sz="2800" kern="100">
                                        <a:effectLst/>
                                        <a:latin typeface="Cambria Math" panose="02040503050406030204" pitchFamily="18" charset="0"/>
                                      </a:rPr>
                                      <m:t>𝑡</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Demand of critical mineral for new technology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006090673"/>
                      </a:ext>
                    </a:extLst>
                  </a:tr>
                  <a:tr h="734895">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𝐶𝑀𝑡</m:t>
                                    </m:r>
                                  </m:e>
                                  <m:sub>
                                    <m:r>
                                      <a:rPr lang="en-GB" sz="2800" kern="100">
                                        <a:effectLst/>
                                        <a:latin typeface="Cambria Math" panose="02040503050406030204" pitchFamily="18" charset="0"/>
                                      </a:rPr>
                                      <m:t>𝑚</m:t>
                                    </m:r>
                                    <m:r>
                                      <a:rPr lang="en-GB" sz="2800" kern="100">
                                        <a:effectLst/>
                                        <a:latin typeface="Cambria Math" panose="02040503050406030204" pitchFamily="18" charset="0"/>
                                      </a:rPr>
                                      <m:t>,</m:t>
                                    </m:r>
                                    <m:r>
                                      <a:rPr lang="en-GB" sz="2800" kern="100">
                                        <a:effectLst/>
                                        <a:latin typeface="Cambria Math" panose="02040503050406030204" pitchFamily="18" charset="0"/>
                                      </a:rPr>
                                      <m:t>𝑡</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Demand of critical mineral for new transmission line, only copper is accounted for transmission line</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1062415849"/>
                      </a:ext>
                    </a:extLst>
                  </a:tr>
                  <a:tr h="659755">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𝐶𝑀𝑅</m:t>
                                    </m:r>
                                  </m:e>
                                  <m:sub>
                                    <m:r>
                                      <a:rPr lang="en-GB" sz="2800" kern="100">
                                        <a:effectLst/>
                                        <a:latin typeface="Cambria Math" panose="02040503050406030204" pitchFamily="18" charset="0"/>
                                      </a:rPr>
                                      <m:t>𝑚</m:t>
                                    </m:r>
                                    <m:r>
                                      <a:rPr lang="en-GB" sz="2800" kern="100">
                                        <a:effectLst/>
                                        <a:latin typeface="Cambria Math" panose="02040503050406030204" pitchFamily="18" charset="0"/>
                                      </a:rPr>
                                      <m:t>,</m:t>
                                    </m:r>
                                    <m:r>
                                      <a:rPr lang="en-GB" sz="2800" kern="100">
                                        <a:effectLst/>
                                        <a:latin typeface="Cambria Math" panose="02040503050406030204" pitchFamily="18" charset="0"/>
                                      </a:rPr>
                                      <m:t>𝑡</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A part of critical mineral that comes from recovery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914550434"/>
                      </a:ext>
                    </a:extLst>
                  </a:tr>
                  <a:tr h="636618">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𝐼𝑚𝑝𝑜𝑟𝑡𝐶𝑀</m:t>
                                    </m:r>
                                  </m:e>
                                  <m:sub>
                                    <m:r>
                                      <a:rPr lang="en-GB" sz="2800" kern="100">
                                        <a:effectLst/>
                                        <a:latin typeface="Cambria Math" panose="02040503050406030204" pitchFamily="18" charset="0"/>
                                      </a:rPr>
                                      <m:t>𝑚</m:t>
                                    </m:r>
                                    <m:r>
                                      <a:rPr lang="en-GB" sz="2800" kern="100">
                                        <a:effectLst/>
                                        <a:latin typeface="Cambria Math" panose="02040503050406030204" pitchFamily="18" charset="0"/>
                                      </a:rPr>
                                      <m:t>.</m:t>
                                    </m:r>
                                    <m:r>
                                      <a:rPr lang="en-GB" sz="2800" kern="100">
                                        <a:effectLst/>
                                        <a:latin typeface="Cambria Math" panose="02040503050406030204" pitchFamily="18" charset="0"/>
                                      </a:rPr>
                                      <m:t>𝑡</m:t>
                                    </m:r>
                                  </m:sub>
                                </m:sSub>
                              </m:oMath>
                            </m:oMathPara>
                          </a14:m>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Imported critical mineral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115557404"/>
                      </a:ext>
                    </a:extLst>
                  </a:tr>
                  <a:tr h="659755">
                    <a:tc>
                      <a:txBody>
                        <a:bodyPr/>
                        <a:lstStyle/>
                        <a:p>
                          <a:pPr algn="ct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rPr>
                                    </m:ctrlPr>
                                  </m:sSubPr>
                                  <m:e>
                                    <m:r>
                                      <a:rPr lang="en-GB" sz="2800" kern="100">
                                        <a:effectLst/>
                                        <a:latin typeface="Cambria Math" panose="02040503050406030204" pitchFamily="18" charset="0"/>
                                      </a:rPr>
                                      <m:t>𝐴𝑣𝑎𝑖𝑙𝑎𝑏𝑙𝑒𝐶𝑀</m:t>
                                    </m:r>
                                  </m:e>
                                  <m:sub>
                                    <m:r>
                                      <a:rPr lang="en-GB" sz="2800" kern="100">
                                        <a:effectLst/>
                                        <a:latin typeface="Cambria Math" panose="02040503050406030204" pitchFamily="18" charset="0"/>
                                      </a:rPr>
                                      <m:t>𝑚</m:t>
                                    </m:r>
                                    <m:r>
                                      <a:rPr lang="en-GB" sz="2800" kern="100">
                                        <a:effectLst/>
                                        <a:latin typeface="Cambria Math" panose="02040503050406030204" pitchFamily="18" charset="0"/>
                                      </a:rPr>
                                      <m:t>,</m:t>
                                    </m:r>
                                    <m:r>
                                      <a:rPr lang="en-GB" sz="2800" kern="100">
                                        <a:effectLst/>
                                        <a:latin typeface="Cambria Math" panose="02040503050406030204" pitchFamily="18" charset="0"/>
                                      </a:rPr>
                                      <m:t>𝑡</m:t>
                                    </m:r>
                                  </m:sub>
                                </m:sSub>
                              </m:oMath>
                            </m:oMathPara>
                          </a14:m>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dirty="0">
                              <a:effectLst/>
                            </a:rPr>
                            <a:t>Available critical mineral </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433080947"/>
                      </a:ext>
                    </a:extLst>
                  </a:tr>
                </a:tbl>
              </a:graphicData>
            </a:graphic>
          </p:graphicFrame>
        </mc:Choice>
        <mc:Fallback>
          <p:graphicFrame>
            <p:nvGraphicFramePr>
              <p:cNvPr id="4" name="Table 3">
                <a:extLst>
                  <a:ext uri="{FF2B5EF4-FFF2-40B4-BE49-F238E27FC236}">
                    <a16:creationId xmlns:a16="http://schemas.microsoft.com/office/drawing/2014/main" id="{34C20C79-87F5-4FB4-BAE5-45913D4B9848}"/>
                  </a:ext>
                </a:extLst>
              </p:cNvPr>
              <p:cNvGraphicFramePr>
                <a:graphicFrameLocks noGrp="1"/>
              </p:cNvGraphicFramePr>
              <p:nvPr>
                <p:extLst>
                  <p:ext uri="{D42A27DB-BD31-4B8C-83A1-F6EECF244321}">
                    <p14:modId xmlns:p14="http://schemas.microsoft.com/office/powerpoint/2010/main" val="1874205311"/>
                  </p:ext>
                </p:extLst>
              </p:nvPr>
            </p:nvGraphicFramePr>
            <p:xfrm>
              <a:off x="13068457" y="371250"/>
              <a:ext cx="11553491" cy="10808589"/>
            </p:xfrm>
            <a:graphic>
              <a:graphicData uri="http://schemas.openxmlformats.org/drawingml/2006/table">
                <a:tbl>
                  <a:tblPr firstRow="1" firstCol="1" bandRow="1">
                    <a:tableStyleId>{5940675A-B579-460E-94D1-54222C63F5DA}</a:tableStyleId>
                  </a:tblPr>
                  <a:tblGrid>
                    <a:gridCol w="3445800">
                      <a:extLst>
                        <a:ext uri="{9D8B030D-6E8A-4147-A177-3AD203B41FA5}">
                          <a16:colId xmlns:a16="http://schemas.microsoft.com/office/drawing/2014/main" val="1873277514"/>
                        </a:ext>
                      </a:extLst>
                    </a:gridCol>
                    <a:gridCol w="8107691">
                      <a:extLst>
                        <a:ext uri="{9D8B030D-6E8A-4147-A177-3AD203B41FA5}">
                          <a16:colId xmlns:a16="http://schemas.microsoft.com/office/drawing/2014/main" val="3765139573"/>
                        </a:ext>
                      </a:extLst>
                    </a:gridCol>
                  </a:tblGrid>
                  <a:tr h="501419">
                    <a:tc>
                      <a:txBody>
                        <a:bodyPr/>
                        <a:lstStyle/>
                        <a:p>
                          <a:pPr>
                            <a:lnSpc>
                              <a:spcPct val="115000"/>
                            </a:lnSpc>
                            <a:spcAft>
                              <a:spcPts val="800"/>
                            </a:spcAft>
                            <a:buNone/>
                          </a:pPr>
                          <a:r>
                            <a:rPr lang="en-GB" sz="2800" kern="100" dirty="0">
                              <a:effectLst/>
                            </a:rPr>
                            <a:t>Indices</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800" kern="100">
                              <a:effectLst/>
                            </a:rPr>
                            <a:t>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100191225"/>
                      </a:ext>
                    </a:extLst>
                  </a:tr>
                  <a:tr h="501419">
                    <a:tc>
                      <a:txBody>
                        <a:bodyPr/>
                        <a:lstStyle/>
                        <a:p>
                          <a:pPr algn="ctr">
                            <a:lnSpc>
                              <a:spcPct val="115000"/>
                            </a:lnSpc>
                            <a:spcAft>
                              <a:spcPts val="800"/>
                            </a:spcAft>
                            <a:buNone/>
                          </a:pPr>
                          <a:r>
                            <a:rPr lang="en-GB" sz="2800" kern="100">
                              <a:effectLst/>
                            </a:rPr>
                            <a:t>m</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Index for critical mineral</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4175525690"/>
                      </a:ext>
                    </a:extLst>
                  </a:tr>
                  <a:tr h="501419">
                    <a:tc>
                      <a:txBody>
                        <a:bodyPr/>
                        <a:lstStyle/>
                        <a:p>
                          <a:pPr algn="ctr">
                            <a:lnSpc>
                              <a:spcPct val="115000"/>
                            </a:lnSpc>
                            <a:spcAft>
                              <a:spcPts val="800"/>
                            </a:spcAft>
                            <a:buNone/>
                          </a:pPr>
                          <a:r>
                            <a:rPr lang="en-GB" sz="2800" kern="100">
                              <a:effectLst/>
                            </a:rPr>
                            <a:t>t</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Intex for year</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164360119"/>
                      </a:ext>
                    </a:extLst>
                  </a:tr>
                  <a:tr h="501419">
                    <a:tc>
                      <a:txBody>
                        <a:bodyPr/>
                        <a:lstStyle/>
                        <a:p>
                          <a:pPr algn="ctr">
                            <a:lnSpc>
                              <a:spcPct val="115000"/>
                            </a:lnSpc>
                            <a:spcAft>
                              <a:spcPts val="800"/>
                            </a:spcAft>
                            <a:buNone/>
                          </a:pPr>
                          <a:r>
                            <a:rPr lang="en-GB" sz="2800" kern="100">
                              <a:effectLst/>
                            </a:rPr>
                            <a:t>j</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Index for technology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60642931"/>
                      </a:ext>
                    </a:extLst>
                  </a:tr>
                  <a:tr h="501419">
                    <a:tc>
                      <a:txBody>
                        <a:bodyPr/>
                        <a:lstStyle/>
                        <a:p>
                          <a:pPr algn="ctr">
                            <a:lnSpc>
                              <a:spcPct val="115000"/>
                            </a:lnSpc>
                            <a:spcAft>
                              <a:spcPts val="800"/>
                            </a:spcAft>
                            <a:buNone/>
                          </a:pPr>
                          <a:r>
                            <a:rPr lang="en-GB" sz="2800" kern="100">
                              <a:effectLst/>
                            </a:rPr>
                            <a:t>g</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Index for region</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54570475"/>
                      </a:ext>
                    </a:extLst>
                  </a:tr>
                  <a:tr h="501419">
                    <a:tc>
                      <a:txBody>
                        <a:bodyPr/>
                        <a:lstStyle/>
                        <a:p>
                          <a:pPr>
                            <a:lnSpc>
                              <a:spcPct val="115000"/>
                            </a:lnSpc>
                            <a:spcAft>
                              <a:spcPts val="800"/>
                            </a:spcAft>
                            <a:buNone/>
                          </a:pPr>
                          <a:r>
                            <a:rPr lang="en-GB" sz="2800" kern="100">
                              <a:effectLst/>
                            </a:rPr>
                            <a:t>Parameters</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297096059"/>
                      </a:ext>
                    </a:extLst>
                  </a:tr>
                  <a:tr h="679068">
                    <a:tc>
                      <a:txBody>
                        <a:bodyPr/>
                        <a:lstStyle/>
                        <a:p>
                          <a:endParaRPr lang="en-US"/>
                        </a:p>
                      </a:txBody>
                      <a:tcPr marL="60121" marR="60121" marT="0" marB="0">
                        <a:blipFill>
                          <a:blip r:embed="rId2"/>
                          <a:stretch>
                            <a:fillRect l="-177" t="-454955" r="-235512" b="-1055856"/>
                          </a:stretch>
                        </a:blipFill>
                      </a:tcPr>
                    </a:tc>
                    <a:tc>
                      <a:txBody>
                        <a:bodyPr/>
                        <a:lstStyle/>
                        <a:p>
                          <a:pPr>
                            <a:lnSpc>
                              <a:spcPct val="115000"/>
                            </a:lnSpc>
                            <a:spcAft>
                              <a:spcPts val="800"/>
                            </a:spcAft>
                            <a:buNone/>
                          </a:pPr>
                          <a:r>
                            <a:rPr lang="en-GB" sz="2000" kern="100">
                              <a:effectLst/>
                            </a:rPr>
                            <a:t>Intensity of critical mineral m for technology j [ton/GW]</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314659896"/>
                      </a:ext>
                    </a:extLst>
                  </a:tr>
                  <a:tr h="636618">
                    <a:tc>
                      <a:txBody>
                        <a:bodyPr/>
                        <a:lstStyle/>
                        <a:p>
                          <a:endParaRPr lang="en-US"/>
                        </a:p>
                      </a:txBody>
                      <a:tcPr marL="60121" marR="60121" marT="0" marB="0">
                        <a:blipFill>
                          <a:blip r:embed="rId2"/>
                          <a:stretch>
                            <a:fillRect l="-177" t="-586667" r="-235512" b="-1016190"/>
                          </a:stretch>
                        </a:blipFill>
                      </a:tcPr>
                    </a:tc>
                    <a:tc>
                      <a:txBody>
                        <a:bodyPr/>
                        <a:lstStyle/>
                        <a:p>
                          <a:pPr>
                            <a:lnSpc>
                              <a:spcPct val="115000"/>
                            </a:lnSpc>
                            <a:spcAft>
                              <a:spcPts val="800"/>
                            </a:spcAft>
                            <a:buNone/>
                          </a:pPr>
                          <a:r>
                            <a:rPr lang="en-GB" sz="2000" kern="100" dirty="0">
                              <a:effectLst/>
                            </a:rPr>
                            <a:t>Recovery factor for critical mineral m</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4232726060"/>
                      </a:ext>
                    </a:extLst>
                  </a:tr>
                  <a:tr h="636618">
                    <a:tc>
                      <a:txBody>
                        <a:bodyPr/>
                        <a:lstStyle/>
                        <a:p>
                          <a:endParaRPr lang="en-US"/>
                        </a:p>
                      </a:txBody>
                      <a:tcPr marL="60121" marR="60121" marT="0" marB="0">
                        <a:blipFill>
                          <a:blip r:embed="rId2"/>
                          <a:stretch>
                            <a:fillRect l="-177" t="-693269" r="-235512" b="-925962"/>
                          </a:stretch>
                        </a:blipFill>
                      </a:tcPr>
                    </a:tc>
                    <a:tc>
                      <a:txBody>
                        <a:bodyPr/>
                        <a:lstStyle/>
                        <a:p>
                          <a:pPr>
                            <a:lnSpc>
                              <a:spcPct val="115000"/>
                            </a:lnSpc>
                            <a:spcAft>
                              <a:spcPts val="800"/>
                            </a:spcAft>
                            <a:buNone/>
                          </a:pPr>
                          <a:r>
                            <a:rPr lang="en-GB" sz="2000" kern="100" dirty="0">
                              <a:effectLst/>
                            </a:rPr>
                            <a:t>Proportion of mineral that is used for energy sector</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1971100793"/>
                      </a:ext>
                    </a:extLst>
                  </a:tr>
                  <a:tr h="636618">
                    <a:tc>
                      <a:txBody>
                        <a:bodyPr/>
                        <a:lstStyle/>
                        <a:p>
                          <a:endParaRPr lang="en-US"/>
                        </a:p>
                      </a:txBody>
                      <a:tcPr marL="60121" marR="60121" marT="0" marB="0">
                        <a:blipFill>
                          <a:blip r:embed="rId2"/>
                          <a:stretch>
                            <a:fillRect l="-177" t="-785714" r="-235512" b="-817143"/>
                          </a:stretch>
                        </a:blipFill>
                      </a:tcPr>
                    </a:tc>
                    <a:tc>
                      <a:txBody>
                        <a:bodyPr/>
                        <a:lstStyle/>
                        <a:p>
                          <a:pPr>
                            <a:lnSpc>
                              <a:spcPct val="115000"/>
                            </a:lnSpc>
                            <a:spcAft>
                              <a:spcPts val="800"/>
                            </a:spcAft>
                            <a:buNone/>
                          </a:pPr>
                          <a:r>
                            <a:rPr lang="en-GB" sz="2000" kern="100">
                              <a:effectLst/>
                            </a:rPr>
                            <a:t>Initial available critical mineral m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443038391"/>
                      </a:ext>
                    </a:extLst>
                  </a:tr>
                  <a:tr h="501419">
                    <a:tc>
                      <a:txBody>
                        <a:bodyPr/>
                        <a:lstStyle/>
                        <a:p>
                          <a:pPr>
                            <a:lnSpc>
                              <a:spcPct val="115000"/>
                            </a:lnSpc>
                            <a:spcAft>
                              <a:spcPts val="800"/>
                            </a:spcAft>
                            <a:buNone/>
                          </a:pPr>
                          <a:r>
                            <a:rPr lang="en-GB" sz="2800" kern="100">
                              <a:effectLst/>
                            </a:rPr>
                            <a:t>Variables</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tc>
                      <a:txBody>
                        <a:bodyPr/>
                        <a:lstStyle/>
                        <a:p>
                          <a:pPr>
                            <a:lnSpc>
                              <a:spcPct val="115000"/>
                            </a:lnSpc>
                            <a:spcAft>
                              <a:spcPts val="800"/>
                            </a:spcAft>
                            <a:buNone/>
                          </a:pPr>
                          <a:r>
                            <a:rPr lang="en-GB" sz="2000" kern="100">
                              <a:effectLst/>
                            </a:rPr>
                            <a:t>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260008398"/>
                      </a:ext>
                    </a:extLst>
                  </a:tr>
                  <a:tr h="679478">
                    <a:tc>
                      <a:txBody>
                        <a:bodyPr/>
                        <a:lstStyle/>
                        <a:p>
                          <a:endParaRPr lang="en-US"/>
                        </a:p>
                      </a:txBody>
                      <a:tcPr marL="60121" marR="60121" marT="0" marB="0">
                        <a:blipFill>
                          <a:blip r:embed="rId2"/>
                          <a:stretch>
                            <a:fillRect l="-177" t="-903571" r="-235512" b="-592857"/>
                          </a:stretch>
                        </a:blipFill>
                      </a:tcPr>
                    </a:tc>
                    <a:tc>
                      <a:txBody>
                        <a:bodyPr/>
                        <a:lstStyle/>
                        <a:p>
                          <a:pPr>
                            <a:lnSpc>
                              <a:spcPct val="115000"/>
                            </a:lnSpc>
                            <a:spcAft>
                              <a:spcPts val="800"/>
                            </a:spcAft>
                            <a:buNone/>
                          </a:pPr>
                          <a:r>
                            <a:rPr lang="en-GB" sz="2000" kern="100">
                              <a:effectLst/>
                            </a:rPr>
                            <a:t>New installed capacity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791305028"/>
                      </a:ext>
                    </a:extLst>
                  </a:tr>
                  <a:tr h="679478">
                    <a:tc>
                      <a:txBody>
                        <a:bodyPr/>
                        <a:lstStyle/>
                        <a:p>
                          <a:endParaRPr lang="en-US"/>
                        </a:p>
                      </a:txBody>
                      <a:tcPr marL="60121" marR="60121" marT="0" marB="0">
                        <a:blipFill>
                          <a:blip r:embed="rId2"/>
                          <a:stretch>
                            <a:fillRect l="-177" t="-1012613" r="-235512" b="-498198"/>
                          </a:stretch>
                        </a:blipFill>
                      </a:tcPr>
                    </a:tc>
                    <a:tc>
                      <a:txBody>
                        <a:bodyPr/>
                        <a:lstStyle/>
                        <a:p>
                          <a:pPr>
                            <a:lnSpc>
                              <a:spcPct val="115000"/>
                            </a:lnSpc>
                            <a:spcAft>
                              <a:spcPts val="800"/>
                            </a:spcAft>
                            <a:buNone/>
                          </a:pPr>
                          <a:r>
                            <a:rPr lang="en-GB" sz="2000" kern="100">
                              <a:effectLst/>
                            </a:rPr>
                            <a:t>New Transmission capacity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1590987884"/>
                      </a:ext>
                    </a:extLst>
                  </a:tr>
                  <a:tr h="659755">
                    <a:tc>
                      <a:txBody>
                        <a:bodyPr/>
                        <a:lstStyle/>
                        <a:p>
                          <a:endParaRPr lang="en-US"/>
                        </a:p>
                      </a:txBody>
                      <a:tcPr marL="60121" marR="60121" marT="0" marB="0">
                        <a:blipFill>
                          <a:blip r:embed="rId2"/>
                          <a:stretch>
                            <a:fillRect l="-177" t="-1143519" r="-235512" b="-412037"/>
                          </a:stretch>
                        </a:blipFill>
                      </a:tcPr>
                    </a:tc>
                    <a:tc>
                      <a:txBody>
                        <a:bodyPr/>
                        <a:lstStyle/>
                        <a:p>
                          <a:pPr>
                            <a:lnSpc>
                              <a:spcPct val="115000"/>
                            </a:lnSpc>
                            <a:spcAft>
                              <a:spcPts val="800"/>
                            </a:spcAft>
                            <a:buNone/>
                          </a:pPr>
                          <a:r>
                            <a:rPr lang="en-GB" sz="2000" kern="100">
                              <a:effectLst/>
                            </a:rPr>
                            <a:t>Demand of critical mineral for new technology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006090673"/>
                      </a:ext>
                    </a:extLst>
                  </a:tr>
                  <a:tr h="734895">
                    <a:tc>
                      <a:txBody>
                        <a:bodyPr/>
                        <a:lstStyle/>
                        <a:p>
                          <a:endParaRPr lang="en-US"/>
                        </a:p>
                      </a:txBody>
                      <a:tcPr marL="60121" marR="60121" marT="0" marB="0">
                        <a:blipFill>
                          <a:blip r:embed="rId2"/>
                          <a:stretch>
                            <a:fillRect l="-177" t="-1109917" r="-235512" b="-267769"/>
                          </a:stretch>
                        </a:blipFill>
                      </a:tcPr>
                    </a:tc>
                    <a:tc>
                      <a:txBody>
                        <a:bodyPr/>
                        <a:lstStyle/>
                        <a:p>
                          <a:pPr>
                            <a:lnSpc>
                              <a:spcPct val="115000"/>
                            </a:lnSpc>
                            <a:spcAft>
                              <a:spcPts val="800"/>
                            </a:spcAft>
                            <a:buNone/>
                          </a:pPr>
                          <a:r>
                            <a:rPr lang="en-GB" sz="2000" kern="100">
                              <a:effectLst/>
                            </a:rPr>
                            <a:t>Demand of critical mineral for new transmission line, only copper is accounted for transmission line</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1062415849"/>
                      </a:ext>
                    </a:extLst>
                  </a:tr>
                  <a:tr h="659755">
                    <a:tc>
                      <a:txBody>
                        <a:bodyPr/>
                        <a:lstStyle/>
                        <a:p>
                          <a:endParaRPr lang="en-US"/>
                        </a:p>
                      </a:txBody>
                      <a:tcPr marL="60121" marR="60121" marT="0" marB="0">
                        <a:blipFill>
                          <a:blip r:embed="rId2"/>
                          <a:stretch>
                            <a:fillRect l="-177" t="-1355556" r="-235512" b="-200000"/>
                          </a:stretch>
                        </a:blipFill>
                      </a:tcPr>
                    </a:tc>
                    <a:tc>
                      <a:txBody>
                        <a:bodyPr/>
                        <a:lstStyle/>
                        <a:p>
                          <a:pPr>
                            <a:lnSpc>
                              <a:spcPct val="115000"/>
                            </a:lnSpc>
                            <a:spcAft>
                              <a:spcPts val="800"/>
                            </a:spcAft>
                            <a:buNone/>
                          </a:pPr>
                          <a:r>
                            <a:rPr lang="en-GB" sz="2000" kern="100">
                              <a:effectLst/>
                            </a:rPr>
                            <a:t>A part of critical mineral that comes from recovery</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3914550434"/>
                      </a:ext>
                    </a:extLst>
                  </a:tr>
                  <a:tr h="636618">
                    <a:tc>
                      <a:txBody>
                        <a:bodyPr/>
                        <a:lstStyle/>
                        <a:p>
                          <a:endParaRPr lang="en-US"/>
                        </a:p>
                      </a:txBody>
                      <a:tcPr marL="60121" marR="60121" marT="0" marB="0">
                        <a:blipFill>
                          <a:blip r:embed="rId2"/>
                          <a:stretch>
                            <a:fillRect l="-177" t="-1497143" r="-235512" b="-105714"/>
                          </a:stretch>
                        </a:blipFill>
                      </a:tcPr>
                    </a:tc>
                    <a:tc>
                      <a:txBody>
                        <a:bodyPr/>
                        <a:lstStyle/>
                        <a:p>
                          <a:pPr>
                            <a:lnSpc>
                              <a:spcPct val="115000"/>
                            </a:lnSpc>
                            <a:spcAft>
                              <a:spcPts val="800"/>
                            </a:spcAft>
                            <a:buNone/>
                          </a:pPr>
                          <a:r>
                            <a:rPr lang="en-GB" sz="2000" kern="100">
                              <a:effectLst/>
                            </a:rPr>
                            <a:t>Imported critical mineral </a:t>
                          </a:r>
                          <a:endParaRPr lang="en-GB" sz="2800" kern="10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115557404"/>
                      </a:ext>
                    </a:extLst>
                  </a:tr>
                  <a:tr h="659755">
                    <a:tc>
                      <a:txBody>
                        <a:bodyPr/>
                        <a:lstStyle/>
                        <a:p>
                          <a:endParaRPr lang="en-US"/>
                        </a:p>
                      </a:txBody>
                      <a:tcPr marL="60121" marR="60121" marT="0" marB="0">
                        <a:blipFill>
                          <a:blip r:embed="rId2"/>
                          <a:stretch>
                            <a:fillRect l="-177" t="-1552778" r="-235512" b="-2778"/>
                          </a:stretch>
                        </a:blipFill>
                      </a:tcPr>
                    </a:tc>
                    <a:tc>
                      <a:txBody>
                        <a:bodyPr/>
                        <a:lstStyle/>
                        <a:p>
                          <a:pPr>
                            <a:lnSpc>
                              <a:spcPct val="115000"/>
                            </a:lnSpc>
                            <a:spcAft>
                              <a:spcPts val="800"/>
                            </a:spcAft>
                            <a:buNone/>
                          </a:pPr>
                          <a:r>
                            <a:rPr lang="en-GB" sz="2000" kern="100" dirty="0">
                              <a:effectLst/>
                            </a:rPr>
                            <a:t>Available critical mineral </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txBody>
                      <a:tcPr marL="60121" marR="60121" marT="0" marB="0"/>
                    </a:tc>
                    <a:extLst>
                      <a:ext uri="{0D108BD9-81ED-4DB2-BD59-A6C34878D82A}">
                        <a16:rowId xmlns:a16="http://schemas.microsoft.com/office/drawing/2014/main" val="2433080947"/>
                      </a:ext>
                    </a:extLst>
                  </a:tr>
                </a:tbl>
              </a:graphicData>
            </a:graphic>
          </p:graphicFrame>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120624A-BA3D-D24B-CAA5-7F52B4CA277B}"/>
                  </a:ext>
                </a:extLst>
              </p:cNvPr>
              <p:cNvSpPr txBox="1"/>
              <p:nvPr/>
            </p:nvSpPr>
            <p:spPr>
              <a:xfrm>
                <a:off x="-696955" y="7994400"/>
                <a:ext cx="17198412" cy="5381666"/>
              </a:xfrm>
              <a:prstGeom prst="rect">
                <a:avLst/>
              </a:prstGeom>
              <a:noFill/>
            </p:spPr>
            <p:txBody>
              <a:bodyPr wrap="square">
                <a:spAutoFit/>
              </a:bodyPr>
              <a:lstStyle/>
              <a:p>
                <a:pPr>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smtClean="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𝐶𝑀𝐷</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nary>
                        <m:naryPr>
                          <m:chr m:val="∑"/>
                          <m:limLoc m:val="undOv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naryPr>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sub>
                        <m:sup/>
                        <m:e>
                          <m:d>
                            <m:d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dPr>
                            <m:e>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𝐶𝑎𝑝𝑁𝑒𝑤</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𝐼𝑛𝑡𝑒𝑛𝑠𝑖𝑡𝑦</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𝑚</m:t>
                                  </m:r>
                                </m:sub>
                              </m:sSub>
                            </m:e>
                          </m:d>
                        </m:e>
                      </m:nary>
                    </m:oMath>
                  </m:oMathPara>
                </a14:m>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𝐶𝑀𝑡</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nary>
                        <m:naryPr>
                          <m:chr m:val="∑"/>
                          <m:limLoc m:val="undOv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naryPr>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sub>
                        <m:sup/>
                        <m:e>
                          <m:d>
                            <m:d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dPr>
                            <m:e>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𝑇𝑅𝐶𝑁𝑒𝑤</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1,</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𝐼𝑛𝑡𝑒𝑛𝑠𝑖𝑡𝑦</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𝑚</m:t>
                                  </m:r>
                                </m:sub>
                              </m:sSub>
                            </m:e>
                          </m:d>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𝑖𝑓</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𝑖𝑛</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𝐶𝑈</m:t>
                          </m:r>
                        </m:e>
                      </m:nary>
                      <m:r>
                        <a:rPr lang="en-GB" sz="2800" i="1" kern="100">
                          <a:effectLst/>
                          <a:latin typeface="Cambria Math" panose="02040503050406030204" pitchFamily="18" charset="0"/>
                          <a:ea typeface="Aptos" panose="020B0004020202020204" pitchFamily="34" charset="0"/>
                          <a:cs typeface="Arial" panose="020B0604020202020204" pitchFamily="34" charset="0"/>
                        </a:rPr>
                        <m:t>′</m:t>
                      </m:r>
                    </m:oMath>
                  </m:oMathPara>
                </a14:m>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𝐶𝑀𝑅</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nary>
                        <m:naryPr>
                          <m:chr m:val="∑"/>
                          <m:limLoc m:val="undOv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naryPr>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r>
                            <a:rPr lang="en-GB" sz="2800" i="1" kern="100">
                              <a:effectLst/>
                              <a:latin typeface="Cambria Math" panose="02040503050406030204" pitchFamily="18" charset="0"/>
                              <a:ea typeface="Aptos" panose="020B0004020202020204" pitchFamily="34" charset="0"/>
                              <a:cs typeface="Arial" panose="020B0604020202020204" pitchFamily="34" charset="0"/>
                            </a:rPr>
                            <m:t> </m:t>
                          </m:r>
                        </m:sub>
                        <m:sup/>
                        <m:e>
                          <m:d>
                            <m:d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dPr>
                            <m:e>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𝐷𝐶𝐴𝑃</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𝑔</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𝑅𝐸𝐶</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𝐼𝑛𝑡𝑒𝑛𝑠𝑖𝑡𝑦</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𝑗</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𝑚</m:t>
                                  </m:r>
                                </m:sub>
                              </m:sSub>
                            </m:e>
                          </m:d>
                        </m:e>
                      </m:nary>
                    </m:oMath>
                  </m:oMathPara>
                </a14:m>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spcAft>
                    <a:spcPts val="800"/>
                  </a:spcAft>
                  <a:buNone/>
                </a:pPr>
                <a:r>
                  <a:rPr lang="en-GB" sz="2800" kern="100" dirty="0">
                    <a:effectLst/>
                    <a:latin typeface="Aptos" panose="020B0004020202020204" pitchFamily="34" charset="0"/>
                    <a:ea typeface="Times New Roman" panose="02020603050405020304" pitchFamily="18" charset="0"/>
                    <a:cs typeface="Arial" panose="020B0604020202020204" pitchFamily="34" charset="0"/>
                  </a:rPr>
                  <a:t> </a:t>
                </a:r>
                <a:endParaRPr lang="en-GB" sz="2800" kern="100" dirty="0">
                  <a:effectLst/>
                  <a:latin typeface="Aptos" panose="020B0004020202020204" pitchFamily="34" charset="0"/>
                  <a:ea typeface="Aptos" panose="020B0004020202020204" pitchFamily="34" charset="0"/>
                  <a:cs typeface="Arial" panose="020B0604020202020204" pitchFamily="34"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𝐴𝑣𝑎𝑖𝑙𝑎𝑏𝑙𝑒𝐶𝑀</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latin typeface="Cambria Math" panose="02040503050406030204" pitchFamily="18" charset="0"/>
                              <a:ea typeface="Aptos" panose="020B0004020202020204" pitchFamily="34" charset="0"/>
                              <a:cs typeface="Arial" panose="020B0604020202020204" pitchFamily="34" charset="0"/>
                            </a:rPr>
                          </m:ctrlPr>
                        </m:sSubPr>
                        <m:e>
                          <m:r>
                            <a:rPr lang="en-GB" sz="2800" i="1" kern="100">
                              <a:latin typeface="Cambria Math" panose="02040503050406030204" pitchFamily="18" charset="0"/>
                              <a:ea typeface="Aptos" panose="020B0004020202020204" pitchFamily="34" charset="0"/>
                              <a:cs typeface="Arial" panose="020B0604020202020204" pitchFamily="34" charset="0"/>
                            </a:rPr>
                            <m:t>𝐴𝑣𝑎𝑖𝑙𝑎𝑏𝑙𝑒𝐶𝑀</m:t>
                          </m:r>
                        </m:e>
                        <m:sub>
                          <m:r>
                            <a:rPr lang="en-GB" sz="2800" i="1" kern="100">
                              <a:latin typeface="Cambria Math" panose="02040503050406030204" pitchFamily="18" charset="0"/>
                              <a:ea typeface="Aptos" panose="020B0004020202020204" pitchFamily="34" charset="0"/>
                              <a:cs typeface="Arial" panose="020B0604020202020204" pitchFamily="34" charset="0"/>
                            </a:rPr>
                            <m:t>𝑚</m:t>
                          </m:r>
                          <m:r>
                            <a:rPr lang="en-GB" sz="2800" i="1" kern="100">
                              <a:latin typeface="Cambria Math" panose="02040503050406030204" pitchFamily="18" charset="0"/>
                              <a:ea typeface="Aptos" panose="020B0004020202020204" pitchFamily="34" charset="0"/>
                              <a:cs typeface="Arial" panose="020B0604020202020204" pitchFamily="34" charset="0"/>
                            </a:rPr>
                            <m:t>,</m:t>
                          </m:r>
                          <m:r>
                            <a:rPr lang="en-GB" sz="2800" i="1" kern="100">
                              <a:latin typeface="Cambria Math" panose="02040503050406030204" pitchFamily="18" charset="0"/>
                              <a:ea typeface="Aptos" panose="020B0004020202020204" pitchFamily="34" charset="0"/>
                              <a:cs typeface="Arial" panose="020B0604020202020204" pitchFamily="34" charset="0"/>
                            </a:rPr>
                            <m:t>𝑡</m:t>
                          </m:r>
                          <m:r>
                            <a:rPr lang="en-GB" sz="2800" b="0" i="1" kern="100" smtClean="0">
                              <a:latin typeface="Cambria Math" panose="02040503050406030204" pitchFamily="18" charset="0"/>
                              <a:ea typeface="Aptos" panose="020B0004020202020204" pitchFamily="34" charset="0"/>
                              <a:cs typeface="Arial" panose="020B0604020202020204" pitchFamily="34" charset="0"/>
                            </a:rPr>
                            <m:t>−1</m:t>
                          </m:r>
                        </m:sub>
                      </m:sSub>
                      <m:r>
                        <a:rPr lang="en-GB" sz="2800" b="0" i="1" kern="100" smtClean="0">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𝑘</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𝐼𝑛𝑡𝐶𝑀</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𝐼𝑚𝑝𝑜𝑟𝑡𝐶𝑀</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𝐶𝑀𝐷</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sSub>
                            <m:sSubPr>
                              <m:ctrlPr>
                                <a:rPr lang="en-GB" sz="2800" i="1" kern="100">
                                  <a:effectLst/>
                                  <a:latin typeface="Cambria Math" panose="02040503050406030204" pitchFamily="18" charset="0"/>
                                  <a:ea typeface="Aptos" panose="020B0004020202020204" pitchFamily="34" charset="0"/>
                                  <a:cs typeface="Arial" panose="020B0604020202020204" pitchFamily="34" charset="0"/>
                                </a:rPr>
                              </m:ctrlPr>
                            </m:sSubPr>
                            <m:e>
                              <m:r>
                                <a:rPr lang="en-GB" sz="2800" i="1" kern="100">
                                  <a:effectLst/>
                                  <a:latin typeface="Cambria Math" panose="02040503050406030204" pitchFamily="18" charset="0"/>
                                  <a:ea typeface="Aptos" panose="020B0004020202020204" pitchFamily="34" charset="0"/>
                                  <a:cs typeface="Arial" panose="020B0604020202020204" pitchFamily="34" charset="0"/>
                                </a:rPr>
                                <m:t>𝐶𝑀𝑡</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𝐶𝑀𝑅</m:t>
                          </m:r>
                        </m:e>
                        <m:sub>
                          <m:r>
                            <a:rPr lang="en-GB" sz="2800" i="1" kern="100">
                              <a:effectLst/>
                              <a:latin typeface="Cambria Math" panose="02040503050406030204" pitchFamily="18" charset="0"/>
                              <a:ea typeface="Aptos" panose="020B0004020202020204" pitchFamily="34" charset="0"/>
                              <a:cs typeface="Arial" panose="020B0604020202020204" pitchFamily="34" charset="0"/>
                            </a:rPr>
                            <m:t>𝑚</m:t>
                          </m:r>
                          <m:r>
                            <a:rPr lang="en-GB" sz="2800" i="1" kern="100">
                              <a:effectLst/>
                              <a:latin typeface="Cambria Math" panose="02040503050406030204" pitchFamily="18" charset="0"/>
                              <a:ea typeface="Aptos" panose="020B0004020202020204" pitchFamily="34" charset="0"/>
                              <a:cs typeface="Arial" panose="020B0604020202020204" pitchFamily="34" charset="0"/>
                            </a:rPr>
                            <m:t>,</m:t>
                          </m:r>
                          <m:r>
                            <a:rPr lang="en-GB" sz="2800" i="1" kern="100">
                              <a:effectLst/>
                              <a:latin typeface="Cambria Math" panose="02040503050406030204" pitchFamily="18" charset="0"/>
                              <a:ea typeface="Aptos" panose="020B0004020202020204" pitchFamily="34" charset="0"/>
                              <a:cs typeface="Arial" panose="020B0604020202020204" pitchFamily="34" charset="0"/>
                            </a:rPr>
                            <m:t>𝑡</m:t>
                          </m:r>
                        </m:sub>
                      </m:sSub>
                    </m:oMath>
                  </m:oMathPara>
                </a14:m>
                <a:endParaRPr lang="en-GB" sz="2800" kern="100" dirty="0">
                  <a:effectLst/>
                  <a:latin typeface="Aptos" panose="020B0004020202020204" pitchFamily="34" charset="0"/>
                  <a:ea typeface="Aptos" panose="020B0004020202020204" pitchFamily="34" charset="0"/>
                  <a:cs typeface="Arial" panose="020B0604020202020204" pitchFamily="34" charset="0"/>
                </a:endParaRPr>
              </a:p>
            </p:txBody>
          </p:sp>
        </mc:Choice>
        <mc:Fallback>
          <p:sp>
            <p:nvSpPr>
              <p:cNvPr id="5" name="TextBox 4">
                <a:extLst>
                  <a:ext uri="{FF2B5EF4-FFF2-40B4-BE49-F238E27FC236}">
                    <a16:creationId xmlns:a16="http://schemas.microsoft.com/office/drawing/2014/main" id="{E120624A-BA3D-D24B-CAA5-7F52B4CA277B}"/>
                  </a:ext>
                </a:extLst>
              </p:cNvPr>
              <p:cNvSpPr txBox="1">
                <a:spLocks noRot="1" noChangeAspect="1" noMove="1" noResize="1" noEditPoints="1" noAdjustHandles="1" noChangeArrowheads="1" noChangeShapeType="1" noTextEdit="1"/>
              </p:cNvSpPr>
              <p:nvPr/>
            </p:nvSpPr>
            <p:spPr>
              <a:xfrm>
                <a:off x="-696955" y="7994400"/>
                <a:ext cx="17198412" cy="5381666"/>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90972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428C8-C398-12AA-277D-8611965B4867}"/>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FC672D-2281-9574-23B8-937DB36E9C75}"/>
              </a:ext>
            </a:extLst>
          </p:cNvPr>
          <p:cNvCxnSpPr>
            <a:cxnSpLocks/>
          </p:cNvCxnSpPr>
          <p:nvPr/>
        </p:nvCxnSpPr>
        <p:spPr>
          <a:xfrm>
            <a:off x="1530220" y="1175657"/>
            <a:ext cx="1436500" cy="0"/>
          </a:xfrm>
          <a:prstGeom prst="line">
            <a:avLst/>
          </a:prstGeom>
          <a:ln>
            <a:solidFill>
              <a:schemeClr val="accent5">
                <a:lumMod val="40000"/>
                <a:lumOff val="60000"/>
                <a:alpha val="55000"/>
              </a:schemeClr>
            </a:solidFill>
            <a:prstDash val="dash"/>
          </a:ln>
        </p:spPr>
        <p:style>
          <a:lnRef idx="2">
            <a:schemeClr val="accent1"/>
          </a:lnRef>
          <a:fillRef idx="0">
            <a:schemeClr val="accent1"/>
          </a:fillRef>
          <a:effectRef idx="1">
            <a:schemeClr val="accent1"/>
          </a:effectRef>
          <a:fontRef idx="minor">
            <a:schemeClr val="tx1"/>
          </a:fontRef>
        </p:style>
      </p:cxnSp>
      <p:pic>
        <p:nvPicPr>
          <p:cNvPr id="8" name="Picture 7" descr="A chart with colorful circles&#10;&#10;AI-generated content may be incorrect.">
            <a:extLst>
              <a:ext uri="{FF2B5EF4-FFF2-40B4-BE49-F238E27FC236}">
                <a16:creationId xmlns:a16="http://schemas.microsoft.com/office/drawing/2014/main" id="{49DB1088-9FE4-3722-AE00-E4D32E79EC1B}"/>
              </a:ext>
            </a:extLst>
          </p:cNvPr>
          <p:cNvPicPr>
            <a:picLocks noChangeAspect="1"/>
          </p:cNvPicPr>
          <p:nvPr/>
        </p:nvPicPr>
        <p:blipFill>
          <a:blip r:embed="rId2"/>
          <a:stretch>
            <a:fillRect/>
          </a:stretch>
        </p:blipFill>
        <p:spPr>
          <a:xfrm>
            <a:off x="0" y="270587"/>
            <a:ext cx="24529169" cy="14370926"/>
          </a:xfrm>
          <a:prstGeom prst="rect">
            <a:avLst/>
          </a:prstGeom>
        </p:spPr>
      </p:pic>
    </p:spTree>
    <p:extLst>
      <p:ext uri="{BB962C8B-B14F-4D97-AF65-F5344CB8AC3E}">
        <p14:creationId xmlns:p14="http://schemas.microsoft.com/office/powerpoint/2010/main" val="2452515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98740-8047-4835-0244-D95C27FBB74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F8994DC-305E-364C-5482-1181A6436F06}"/>
              </a:ext>
            </a:extLst>
          </p:cNvPr>
          <p:cNvCxnSpPr>
            <a:cxnSpLocks/>
          </p:cNvCxnSpPr>
          <p:nvPr/>
        </p:nvCxnSpPr>
        <p:spPr>
          <a:xfrm>
            <a:off x="1530220" y="1175657"/>
            <a:ext cx="1436500" cy="0"/>
          </a:xfrm>
          <a:prstGeom prst="line">
            <a:avLst/>
          </a:prstGeom>
          <a:ln>
            <a:solidFill>
              <a:schemeClr val="accent5">
                <a:lumMod val="40000"/>
                <a:lumOff val="60000"/>
                <a:alpha val="55000"/>
              </a:schemeClr>
            </a:solidFill>
            <a:prstDash val="dash"/>
          </a:ln>
        </p:spPr>
        <p:style>
          <a:lnRef idx="2">
            <a:schemeClr val="accent1"/>
          </a:lnRef>
          <a:fillRef idx="0">
            <a:schemeClr val="accent1"/>
          </a:fillRef>
          <a:effectRef idx="1">
            <a:schemeClr val="accent1"/>
          </a:effectRef>
          <a:fontRef idx="minor">
            <a:schemeClr val="tx1"/>
          </a:fontRef>
        </p:style>
      </p:cxnSp>
      <p:pic>
        <p:nvPicPr>
          <p:cNvPr id="3" name="Picture 2" descr="A graph of different colored lines&#10;&#10;AI-generated content may be incorrect.">
            <a:extLst>
              <a:ext uri="{FF2B5EF4-FFF2-40B4-BE49-F238E27FC236}">
                <a16:creationId xmlns:a16="http://schemas.microsoft.com/office/drawing/2014/main" id="{CEC2BC82-97D1-E54B-4CED-B8F358EB9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7900" y="0"/>
            <a:ext cx="20881911" cy="14218084"/>
          </a:xfrm>
          <a:prstGeom prst="rect">
            <a:avLst/>
          </a:prstGeom>
        </p:spPr>
      </p:pic>
    </p:spTree>
    <p:extLst>
      <p:ext uri="{BB962C8B-B14F-4D97-AF65-F5344CB8AC3E}">
        <p14:creationId xmlns:p14="http://schemas.microsoft.com/office/powerpoint/2010/main" val="1646236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51076-05DC-BBEA-C9F6-7D016E277965}"/>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09920756-D126-685F-6A68-06C38C30714F}"/>
              </a:ext>
            </a:extLst>
          </p:cNvPr>
          <p:cNvGrpSpPr/>
          <p:nvPr/>
        </p:nvGrpSpPr>
        <p:grpSpPr>
          <a:xfrm>
            <a:off x="920677" y="-120945"/>
            <a:ext cx="22105538" cy="14762458"/>
            <a:chOff x="920677" y="-120945"/>
            <a:chExt cx="22105538" cy="14762458"/>
          </a:xfrm>
        </p:grpSpPr>
        <p:cxnSp>
          <p:nvCxnSpPr>
            <p:cNvPr id="5" name="Straight Connector 4">
              <a:extLst>
                <a:ext uri="{FF2B5EF4-FFF2-40B4-BE49-F238E27FC236}">
                  <a16:creationId xmlns:a16="http://schemas.microsoft.com/office/drawing/2014/main" id="{363E2151-6C27-8497-583B-FABBAE59ACD4}"/>
                </a:ext>
              </a:extLst>
            </p:cNvPr>
            <p:cNvCxnSpPr>
              <a:cxnSpLocks/>
            </p:cNvCxnSpPr>
            <p:nvPr/>
          </p:nvCxnSpPr>
          <p:spPr>
            <a:xfrm>
              <a:off x="1530220" y="1175657"/>
              <a:ext cx="1436500" cy="0"/>
            </a:xfrm>
            <a:prstGeom prst="line">
              <a:avLst/>
            </a:prstGeom>
            <a:ln>
              <a:solidFill>
                <a:schemeClr val="accent5">
                  <a:lumMod val="40000"/>
                  <a:lumOff val="60000"/>
                  <a:alpha val="55000"/>
                </a:schemeClr>
              </a:solidFill>
              <a:prstDash val="dash"/>
            </a:ln>
          </p:spPr>
          <p:style>
            <a:lnRef idx="2">
              <a:schemeClr val="accent1"/>
            </a:lnRef>
            <a:fillRef idx="0">
              <a:schemeClr val="accent1"/>
            </a:fillRef>
            <a:effectRef idx="1">
              <a:schemeClr val="accent1"/>
            </a:effectRef>
            <a:fontRef idx="minor">
              <a:schemeClr val="tx1"/>
            </a:fontRef>
          </p:style>
        </p:cxnSp>
        <p:pic>
          <p:nvPicPr>
            <p:cNvPr id="3" name="Picture 2" descr="A green and yellow lines&#10;&#10;AI-generated content may be incorrect.">
              <a:extLst>
                <a:ext uri="{FF2B5EF4-FFF2-40B4-BE49-F238E27FC236}">
                  <a16:creationId xmlns:a16="http://schemas.microsoft.com/office/drawing/2014/main" id="{30BC69E4-151D-7437-0F8F-5AD7C39C85CA}"/>
                </a:ext>
              </a:extLst>
            </p:cNvPr>
            <p:cNvPicPr>
              <a:picLocks noChangeAspect="1"/>
            </p:cNvPicPr>
            <p:nvPr/>
          </p:nvPicPr>
          <p:blipFill>
            <a:blip r:embed="rId2"/>
            <a:stretch>
              <a:fillRect/>
            </a:stretch>
          </p:blipFill>
          <p:spPr>
            <a:xfrm>
              <a:off x="2393419" y="-120945"/>
              <a:ext cx="20632796" cy="14762458"/>
            </a:xfrm>
            <a:prstGeom prst="rect">
              <a:avLst/>
            </a:prstGeom>
          </p:spPr>
        </p:pic>
        <p:sp>
          <p:nvSpPr>
            <p:cNvPr id="4" name="TextBox 3">
              <a:extLst>
                <a:ext uri="{FF2B5EF4-FFF2-40B4-BE49-F238E27FC236}">
                  <a16:creationId xmlns:a16="http://schemas.microsoft.com/office/drawing/2014/main" id="{E1FBE8E3-CB97-F068-EC95-7C8AB2A40A5F}"/>
                </a:ext>
              </a:extLst>
            </p:cNvPr>
            <p:cNvSpPr txBox="1"/>
            <p:nvPr/>
          </p:nvSpPr>
          <p:spPr>
            <a:xfrm rot="5400000">
              <a:off x="1939150" y="1965704"/>
              <a:ext cx="2612157" cy="584775"/>
            </a:xfrm>
            <a:prstGeom prst="rect">
              <a:avLst/>
            </a:prstGeom>
            <a:noFill/>
          </p:spPr>
          <p:txBody>
            <a:bodyPr wrap="square" rtlCol="0">
              <a:spAutoFit/>
            </a:bodyPr>
            <a:lstStyle/>
            <a:p>
              <a:r>
                <a:rPr lang="en-GB" sz="3200" b="1" dirty="0">
                  <a:solidFill>
                    <a:schemeClr val="bg1"/>
                  </a:solidFill>
                  <a:latin typeface="Palatino Linotype" panose="02040502050505030304" pitchFamily="18" charset="0"/>
                </a:rPr>
                <a:t>111130 ton</a:t>
              </a:r>
            </a:p>
          </p:txBody>
        </p:sp>
        <p:sp>
          <p:nvSpPr>
            <p:cNvPr id="6" name="TextBox 5">
              <a:extLst>
                <a:ext uri="{FF2B5EF4-FFF2-40B4-BE49-F238E27FC236}">
                  <a16:creationId xmlns:a16="http://schemas.microsoft.com/office/drawing/2014/main" id="{F4A71095-CFEE-D5D8-C1F7-F5227412288D}"/>
                </a:ext>
              </a:extLst>
            </p:cNvPr>
            <p:cNvSpPr txBox="1"/>
            <p:nvPr/>
          </p:nvSpPr>
          <p:spPr>
            <a:xfrm rot="5400000">
              <a:off x="1934368" y="5930446"/>
              <a:ext cx="2612157" cy="584775"/>
            </a:xfrm>
            <a:prstGeom prst="rect">
              <a:avLst/>
            </a:prstGeom>
            <a:noFill/>
          </p:spPr>
          <p:txBody>
            <a:bodyPr wrap="square" rtlCol="0">
              <a:spAutoFit/>
            </a:bodyPr>
            <a:lstStyle/>
            <a:p>
              <a:r>
                <a:rPr lang="en-GB" sz="3200" b="1" dirty="0">
                  <a:solidFill>
                    <a:schemeClr val="bg1"/>
                  </a:solidFill>
                  <a:latin typeface="Palatino Linotype" panose="02040502050505030304" pitchFamily="18" charset="0"/>
                </a:rPr>
                <a:t>97561 ton</a:t>
              </a:r>
            </a:p>
          </p:txBody>
        </p:sp>
        <p:sp>
          <p:nvSpPr>
            <p:cNvPr id="7" name="TextBox 6">
              <a:extLst>
                <a:ext uri="{FF2B5EF4-FFF2-40B4-BE49-F238E27FC236}">
                  <a16:creationId xmlns:a16="http://schemas.microsoft.com/office/drawing/2014/main" id="{E0616F4E-B8D9-D139-5C92-0B7164F9CABA}"/>
                </a:ext>
              </a:extLst>
            </p:cNvPr>
            <p:cNvSpPr txBox="1"/>
            <p:nvPr/>
          </p:nvSpPr>
          <p:spPr>
            <a:xfrm rot="5400000">
              <a:off x="1934368" y="11950473"/>
              <a:ext cx="2612157" cy="584775"/>
            </a:xfrm>
            <a:prstGeom prst="rect">
              <a:avLst/>
            </a:prstGeom>
            <a:noFill/>
          </p:spPr>
          <p:txBody>
            <a:bodyPr wrap="square" rtlCol="0">
              <a:spAutoFit/>
            </a:bodyPr>
            <a:lstStyle/>
            <a:p>
              <a:r>
                <a:rPr lang="en-GB" sz="3200" b="1" dirty="0">
                  <a:solidFill>
                    <a:schemeClr val="bg1"/>
                  </a:solidFill>
                  <a:latin typeface="Palatino Linotype" panose="02040502050505030304" pitchFamily="18" charset="0"/>
                </a:rPr>
                <a:t>84000 ton</a:t>
              </a:r>
            </a:p>
          </p:txBody>
        </p:sp>
        <p:sp>
          <p:nvSpPr>
            <p:cNvPr id="9" name="TextBox 8">
              <a:extLst>
                <a:ext uri="{FF2B5EF4-FFF2-40B4-BE49-F238E27FC236}">
                  <a16:creationId xmlns:a16="http://schemas.microsoft.com/office/drawing/2014/main" id="{89E1D538-91B5-81F5-0C9A-618AA58D60FD}"/>
                </a:ext>
              </a:extLst>
            </p:cNvPr>
            <p:cNvSpPr txBox="1"/>
            <p:nvPr/>
          </p:nvSpPr>
          <p:spPr>
            <a:xfrm>
              <a:off x="920677" y="13802838"/>
              <a:ext cx="2612157" cy="584775"/>
            </a:xfrm>
            <a:prstGeom prst="rect">
              <a:avLst/>
            </a:prstGeom>
            <a:noFill/>
          </p:spPr>
          <p:txBody>
            <a:bodyPr wrap="square" rtlCol="0">
              <a:spAutoFit/>
            </a:bodyPr>
            <a:lstStyle/>
            <a:p>
              <a:r>
                <a:rPr lang="en-GB" sz="3200" b="1" dirty="0">
                  <a:latin typeface="Palatino Linotype" panose="02040502050505030304" pitchFamily="18" charset="0"/>
                </a:rPr>
                <a:t>20880 ton</a:t>
              </a:r>
            </a:p>
          </p:txBody>
        </p:sp>
        <p:sp>
          <p:nvSpPr>
            <p:cNvPr id="10" name="TextBox 9">
              <a:extLst>
                <a:ext uri="{FF2B5EF4-FFF2-40B4-BE49-F238E27FC236}">
                  <a16:creationId xmlns:a16="http://schemas.microsoft.com/office/drawing/2014/main" id="{E93D5EC8-B4CB-99F6-7B6B-97FE3B0D504D}"/>
                </a:ext>
              </a:extLst>
            </p:cNvPr>
            <p:cNvSpPr txBox="1"/>
            <p:nvPr/>
          </p:nvSpPr>
          <p:spPr>
            <a:xfrm>
              <a:off x="1068679" y="9756983"/>
              <a:ext cx="2612157" cy="584775"/>
            </a:xfrm>
            <a:prstGeom prst="rect">
              <a:avLst/>
            </a:prstGeom>
            <a:noFill/>
          </p:spPr>
          <p:txBody>
            <a:bodyPr wrap="square" rtlCol="0">
              <a:spAutoFit/>
            </a:bodyPr>
            <a:lstStyle/>
            <a:p>
              <a:r>
                <a:rPr lang="en-GB" sz="3200" b="1" dirty="0">
                  <a:latin typeface="Palatino Linotype" panose="02040502050505030304" pitchFamily="18" charset="0"/>
                </a:rPr>
                <a:t>3590 ton</a:t>
              </a:r>
            </a:p>
          </p:txBody>
        </p:sp>
        <p:sp>
          <p:nvSpPr>
            <p:cNvPr id="11" name="TextBox 10">
              <a:extLst>
                <a:ext uri="{FF2B5EF4-FFF2-40B4-BE49-F238E27FC236}">
                  <a16:creationId xmlns:a16="http://schemas.microsoft.com/office/drawing/2014/main" id="{2798BC8B-8D83-0DB2-DD17-835681B0226A}"/>
                </a:ext>
              </a:extLst>
            </p:cNvPr>
            <p:cNvSpPr txBox="1"/>
            <p:nvPr/>
          </p:nvSpPr>
          <p:spPr>
            <a:xfrm>
              <a:off x="1105587" y="9082580"/>
              <a:ext cx="2612157" cy="584775"/>
            </a:xfrm>
            <a:prstGeom prst="rect">
              <a:avLst/>
            </a:prstGeom>
            <a:noFill/>
          </p:spPr>
          <p:txBody>
            <a:bodyPr wrap="square" rtlCol="0">
              <a:spAutoFit/>
            </a:bodyPr>
            <a:lstStyle/>
            <a:p>
              <a:r>
                <a:rPr lang="en-GB" sz="3200" b="1" dirty="0">
                  <a:latin typeface="Palatino Linotype" panose="02040502050505030304" pitchFamily="18" charset="0"/>
                </a:rPr>
                <a:t>1058 ton</a:t>
              </a:r>
            </a:p>
          </p:txBody>
        </p:sp>
        <p:sp>
          <p:nvSpPr>
            <p:cNvPr id="12" name="TextBox 11">
              <a:extLst>
                <a:ext uri="{FF2B5EF4-FFF2-40B4-BE49-F238E27FC236}">
                  <a16:creationId xmlns:a16="http://schemas.microsoft.com/office/drawing/2014/main" id="{6929C886-84CA-FE47-BF0F-F70637B464FC}"/>
                </a:ext>
              </a:extLst>
            </p:cNvPr>
            <p:cNvSpPr txBox="1"/>
            <p:nvPr/>
          </p:nvSpPr>
          <p:spPr>
            <a:xfrm>
              <a:off x="1124662" y="8452991"/>
              <a:ext cx="2612157" cy="584775"/>
            </a:xfrm>
            <a:prstGeom prst="rect">
              <a:avLst/>
            </a:prstGeom>
            <a:noFill/>
          </p:spPr>
          <p:txBody>
            <a:bodyPr wrap="square" rtlCol="0">
              <a:spAutoFit/>
            </a:bodyPr>
            <a:lstStyle/>
            <a:p>
              <a:r>
                <a:rPr lang="en-GB" sz="3200" b="1" dirty="0">
                  <a:latin typeface="Palatino Linotype" panose="02040502050505030304" pitchFamily="18" charset="0"/>
                </a:rPr>
                <a:t>5754 ton</a:t>
              </a:r>
            </a:p>
          </p:txBody>
        </p:sp>
        <p:sp>
          <p:nvSpPr>
            <p:cNvPr id="13" name="TextBox 12">
              <a:extLst>
                <a:ext uri="{FF2B5EF4-FFF2-40B4-BE49-F238E27FC236}">
                  <a16:creationId xmlns:a16="http://schemas.microsoft.com/office/drawing/2014/main" id="{ACFED858-1600-D5C2-5584-F3F93064373B}"/>
                </a:ext>
              </a:extLst>
            </p:cNvPr>
            <p:cNvSpPr txBox="1"/>
            <p:nvPr/>
          </p:nvSpPr>
          <p:spPr>
            <a:xfrm>
              <a:off x="1143323" y="7618540"/>
              <a:ext cx="2612157" cy="584775"/>
            </a:xfrm>
            <a:prstGeom prst="rect">
              <a:avLst/>
            </a:prstGeom>
            <a:noFill/>
          </p:spPr>
          <p:txBody>
            <a:bodyPr wrap="square" rtlCol="0">
              <a:spAutoFit/>
            </a:bodyPr>
            <a:lstStyle/>
            <a:p>
              <a:r>
                <a:rPr lang="en-GB" sz="3200" b="1" dirty="0">
                  <a:latin typeface="Palatino Linotype" panose="02040502050505030304" pitchFamily="18" charset="0"/>
                </a:rPr>
                <a:t>9021 ton</a:t>
              </a:r>
            </a:p>
          </p:txBody>
        </p:sp>
      </p:grpSp>
    </p:spTree>
    <p:extLst>
      <p:ext uri="{BB962C8B-B14F-4D97-AF65-F5344CB8AC3E}">
        <p14:creationId xmlns:p14="http://schemas.microsoft.com/office/powerpoint/2010/main" val="3281983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63BF8-4D0D-E85C-0FF5-FF20AFC581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BE11E9-83DB-386E-8446-A580E5499542}"/>
              </a:ext>
            </a:extLst>
          </p:cNvPr>
          <p:cNvSpPr txBox="1"/>
          <p:nvPr/>
        </p:nvSpPr>
        <p:spPr>
          <a:xfrm>
            <a:off x="3024268" y="5814153"/>
            <a:ext cx="18829175" cy="1862048"/>
          </a:xfrm>
          <a:prstGeom prst="rect">
            <a:avLst/>
          </a:prstGeom>
          <a:noFill/>
        </p:spPr>
        <p:txBody>
          <a:bodyPr wrap="square" rtlCol="0">
            <a:spAutoFit/>
          </a:bodyPr>
          <a:lstStyle/>
          <a:p>
            <a:pPr algn="ctr"/>
            <a:r>
              <a:rPr lang="en-GB" sz="11500" dirty="0">
                <a:latin typeface="Palatino Linotype" panose="02040502050505030304" pitchFamily="18" charset="0"/>
              </a:rPr>
              <a:t>Multi-objective Results</a:t>
            </a:r>
          </a:p>
        </p:txBody>
      </p:sp>
    </p:spTree>
    <p:extLst>
      <p:ext uri="{BB962C8B-B14F-4D97-AF65-F5344CB8AC3E}">
        <p14:creationId xmlns:p14="http://schemas.microsoft.com/office/powerpoint/2010/main" val="4222033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D7D546F-5D9B-DF44-050B-4DE314C222D7}"/>
              </a:ext>
            </a:extLst>
          </p:cNvPr>
          <p:cNvGrpSpPr/>
          <p:nvPr/>
        </p:nvGrpSpPr>
        <p:grpSpPr>
          <a:xfrm>
            <a:off x="-351058" y="16926"/>
            <a:ext cx="25599510" cy="15049385"/>
            <a:chOff x="-351058" y="16926"/>
            <a:chExt cx="25599510" cy="15049385"/>
          </a:xfrm>
        </p:grpSpPr>
        <p:pic>
          <p:nvPicPr>
            <p:cNvPr id="27" name="Picture 26" descr="A graph of a graph&#10;&#10;AI-generated content may be incorrect.">
              <a:extLst>
                <a:ext uri="{FF2B5EF4-FFF2-40B4-BE49-F238E27FC236}">
                  <a16:creationId xmlns:a16="http://schemas.microsoft.com/office/drawing/2014/main" id="{62C7357E-48DE-74C5-ACA5-F7B124AF829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1058" y="2646835"/>
              <a:ext cx="23943206" cy="12419476"/>
            </a:xfrm>
            <a:prstGeom prst="rect">
              <a:avLst/>
            </a:prstGeom>
          </p:spPr>
        </p:pic>
        <p:pic>
          <p:nvPicPr>
            <p:cNvPr id="7" name="Picture 6" descr="A colorful circle with numbers and numbers&#10;&#10;AI-generated content may be incorrect.">
              <a:extLst>
                <a:ext uri="{FF2B5EF4-FFF2-40B4-BE49-F238E27FC236}">
                  <a16:creationId xmlns:a16="http://schemas.microsoft.com/office/drawing/2014/main" id="{D78603D8-7A8B-8FEE-8581-B42BE80EB8C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975393" y="9434042"/>
              <a:ext cx="4273059" cy="4273059"/>
            </a:xfrm>
            <a:prstGeom prst="rect">
              <a:avLst/>
            </a:prstGeom>
          </p:spPr>
        </p:pic>
        <p:pic>
          <p:nvPicPr>
            <p:cNvPr id="9" name="Picture 8" descr="A colorful circle with numbers and numbers&#10;&#10;AI-generated content may be incorrect.">
              <a:extLst>
                <a:ext uri="{FF2B5EF4-FFF2-40B4-BE49-F238E27FC236}">
                  <a16:creationId xmlns:a16="http://schemas.microsoft.com/office/drawing/2014/main" id="{1C99FEF1-F7C7-A2A0-FEFA-26B0808A9047}"/>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492139" y="8958711"/>
              <a:ext cx="4273059" cy="4273059"/>
            </a:xfrm>
            <a:prstGeom prst="rect">
              <a:avLst/>
            </a:prstGeom>
          </p:spPr>
        </p:pic>
        <p:pic>
          <p:nvPicPr>
            <p:cNvPr id="11" name="Picture 10" descr="A colorful circle with numbers and letters&#10;&#10;AI-generated content may be incorrect.">
              <a:extLst>
                <a:ext uri="{FF2B5EF4-FFF2-40B4-BE49-F238E27FC236}">
                  <a16:creationId xmlns:a16="http://schemas.microsoft.com/office/drawing/2014/main" id="{A7641BF6-EF3E-BCA8-109D-99F1A9E9971E}"/>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967429" y="8287451"/>
              <a:ext cx="4273059" cy="4273059"/>
            </a:xfrm>
            <a:prstGeom prst="rect">
              <a:avLst/>
            </a:prstGeom>
          </p:spPr>
        </p:pic>
        <p:pic>
          <p:nvPicPr>
            <p:cNvPr id="13" name="Picture 12" descr="A colorful circle with numbers and letters&#10;&#10;AI-generated content may be incorrect.">
              <a:extLst>
                <a:ext uri="{FF2B5EF4-FFF2-40B4-BE49-F238E27FC236}">
                  <a16:creationId xmlns:a16="http://schemas.microsoft.com/office/drawing/2014/main" id="{77340640-FD9D-16E6-8999-61C6AA86E87A}"/>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32171" y="6984248"/>
              <a:ext cx="4273060" cy="4273060"/>
            </a:xfrm>
            <a:prstGeom prst="rect">
              <a:avLst/>
            </a:prstGeom>
          </p:spPr>
        </p:pic>
        <p:pic>
          <p:nvPicPr>
            <p:cNvPr id="15" name="Picture 14" descr="A colorful circle with numbers and numbers&#10;&#10;AI-generated content may be incorrect.">
              <a:extLst>
                <a:ext uri="{FF2B5EF4-FFF2-40B4-BE49-F238E27FC236}">
                  <a16:creationId xmlns:a16="http://schemas.microsoft.com/office/drawing/2014/main" id="{1E2E8613-5F38-2139-5E0C-BA927C7CBDE9}"/>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935365" y="2838331"/>
              <a:ext cx="4273059" cy="4273059"/>
            </a:xfrm>
            <a:prstGeom prst="rect">
              <a:avLst/>
            </a:prstGeom>
          </p:spPr>
        </p:pic>
        <p:pic>
          <p:nvPicPr>
            <p:cNvPr id="25" name="Picture 24" descr="A group of colored rectangles with black text&#10;&#10;AI-generated content may be incorrect.">
              <a:extLst>
                <a:ext uri="{FF2B5EF4-FFF2-40B4-BE49-F238E27FC236}">
                  <a16:creationId xmlns:a16="http://schemas.microsoft.com/office/drawing/2014/main" id="{65C01D33-9F28-2683-26E4-12EBE54F2DE4}"/>
                </a:ext>
              </a:extLst>
            </p:cNvPr>
            <p:cNvPicPr>
              <a:picLocks noChangeAspect="1"/>
            </p:cNvPicPr>
            <p:nvPr/>
          </p:nvPicPr>
          <p:blipFill>
            <a:blip r:embed="rId8"/>
            <a:stretch>
              <a:fillRect/>
            </a:stretch>
          </p:blipFill>
          <p:spPr>
            <a:xfrm>
              <a:off x="16906390" y="1221638"/>
              <a:ext cx="7026258" cy="3068347"/>
            </a:xfrm>
            <a:prstGeom prst="rect">
              <a:avLst/>
            </a:prstGeom>
          </p:spPr>
        </p:pic>
        <p:pic>
          <p:nvPicPr>
            <p:cNvPr id="17" name="Picture 16" descr="A colorful circle with numbers and text&#10;&#10;AI-generated content may be incorrect.">
              <a:extLst>
                <a:ext uri="{FF2B5EF4-FFF2-40B4-BE49-F238E27FC236}">
                  <a16:creationId xmlns:a16="http://schemas.microsoft.com/office/drawing/2014/main" id="{640EA3B1-C872-6AB0-59CA-0FEDB9CE1E11}"/>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61544" y="16926"/>
              <a:ext cx="4273059" cy="4273059"/>
            </a:xfrm>
            <a:prstGeom prst="rect">
              <a:avLst/>
            </a:prstGeom>
          </p:spPr>
        </p:pic>
      </p:grpSp>
    </p:spTree>
    <p:extLst>
      <p:ext uri="{BB962C8B-B14F-4D97-AF65-F5344CB8AC3E}">
        <p14:creationId xmlns:p14="http://schemas.microsoft.com/office/powerpoint/2010/main" val="233887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9ABFB-2A7F-EFA8-786C-70FFA421D60C}"/>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A4C4C876-809D-A9A0-4A7B-C5D3829DAEA0}"/>
              </a:ext>
            </a:extLst>
          </p:cNvPr>
          <p:cNvSpPr>
            <a:spLocks noGrp="1"/>
          </p:cNvSpPr>
          <p:nvPr>
            <p:ph type="subTitle" idx="1"/>
          </p:nvPr>
        </p:nvSpPr>
        <p:spPr/>
        <p:txBody>
          <a:bodyPr/>
          <a:lstStyle/>
          <a:p>
            <a:endParaRPr lang="en-GB"/>
          </a:p>
        </p:txBody>
      </p:sp>
      <p:pic>
        <p:nvPicPr>
          <p:cNvPr id="5" name="Picture 4" descr="A graph showing different colored bars&#10;&#10;AI-generated content may be incorrect.">
            <a:extLst>
              <a:ext uri="{FF2B5EF4-FFF2-40B4-BE49-F238E27FC236}">
                <a16:creationId xmlns:a16="http://schemas.microsoft.com/office/drawing/2014/main" id="{1620A203-92AA-9F13-645D-9009E9631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82206"/>
            <a:ext cx="24877713" cy="13877099"/>
          </a:xfrm>
          <a:prstGeom prst="rect">
            <a:avLst/>
          </a:prstGeom>
        </p:spPr>
      </p:pic>
    </p:spTree>
    <p:extLst>
      <p:ext uri="{BB962C8B-B14F-4D97-AF65-F5344CB8AC3E}">
        <p14:creationId xmlns:p14="http://schemas.microsoft.com/office/powerpoint/2010/main" val="736340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D033F-7190-82E1-683B-105B7469C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6D132-2C17-48B5-3DC7-8FE487C31DD4}"/>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D845BC10-821B-8121-3EB6-9DCE9508F9C5}"/>
              </a:ext>
            </a:extLst>
          </p:cNvPr>
          <p:cNvSpPr>
            <a:spLocks noGrp="1"/>
          </p:cNvSpPr>
          <p:nvPr>
            <p:ph type="subTitle" idx="1"/>
          </p:nvPr>
        </p:nvSpPr>
        <p:spPr/>
        <p:txBody>
          <a:bodyPr/>
          <a:lstStyle/>
          <a:p>
            <a:endParaRPr lang="en-GB"/>
          </a:p>
        </p:txBody>
      </p:sp>
      <p:pic>
        <p:nvPicPr>
          <p:cNvPr id="6" name="Picture 5" descr="A graph with green and yellow bars&#10;&#10;AI-generated content may be incorrect.">
            <a:extLst>
              <a:ext uri="{FF2B5EF4-FFF2-40B4-BE49-F238E27FC236}">
                <a16:creationId xmlns:a16="http://schemas.microsoft.com/office/drawing/2014/main" id="{AA1DD3A0-65BE-246D-E05F-61F5D36918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109" y="403274"/>
            <a:ext cx="24595494" cy="13834964"/>
          </a:xfrm>
          <a:prstGeom prst="rect">
            <a:avLst/>
          </a:prstGeom>
        </p:spPr>
      </p:pic>
    </p:spTree>
    <p:extLst>
      <p:ext uri="{BB962C8B-B14F-4D97-AF65-F5344CB8AC3E}">
        <p14:creationId xmlns:p14="http://schemas.microsoft.com/office/powerpoint/2010/main" val="10593072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494</TotalTime>
  <Words>514</Words>
  <Application>Microsoft Office PowerPoint</Application>
  <PresentationFormat>Custom</PresentationFormat>
  <Paragraphs>69</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Abadi</vt:lpstr>
      <vt:lpstr>Abadi Extra Light</vt:lpstr>
      <vt:lpstr>Aptos</vt:lpstr>
      <vt:lpstr>Aptos Display</vt:lpstr>
      <vt:lpstr>Arial</vt:lpstr>
      <vt:lpstr>Cambria Math</vt:lpstr>
      <vt:lpstr>Palatino Linotype</vt:lpstr>
      <vt:lpstr>Times New Roman</vt:lpstr>
      <vt:lpstr>Office Theme</vt:lpstr>
      <vt:lpstr>PowerPoint Presentation</vt:lpstr>
      <vt:lpstr>PowerPoint Presentation</vt:lpstr>
      <vt:lpstr>Summary of formulation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Hemmati, Mohammad</dc:creator>
  <cp:lastModifiedBy>Hemmati, Mohammad</cp:lastModifiedBy>
  <cp:revision>10</cp:revision>
  <dcterms:created xsi:type="dcterms:W3CDTF">2025-12-10T16:45:14Z</dcterms:created>
  <dcterms:modified xsi:type="dcterms:W3CDTF">2025-12-12T15:05:54Z</dcterms:modified>
</cp:coreProperties>
</file>